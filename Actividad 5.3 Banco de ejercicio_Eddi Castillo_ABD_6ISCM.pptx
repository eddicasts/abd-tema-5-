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72" r:id="rId6"/>
    <p:sldId id="273" r:id="rId7"/>
    <p:sldId id="274" r:id="rId8"/>
    <p:sldId id="275" r:id="rId9"/>
    <p:sldId id="270" r:id="rId10"/>
    <p:sldId id="263" r:id="rId11"/>
  </p:sldIdLst>
  <p:sldSz cx="18288000" cy="10287000"/>
  <p:notesSz cx="18288000" cy="10287000"/>
  <p:defaultTextStyle>
    <a:defPPr>
      <a:defRPr/>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6" autoAdjust="0"/>
    <p:restoredTop sz="94660"/>
  </p:normalViewPr>
  <p:slideViewPr>
    <p:cSldViewPr>
      <p:cViewPr varScale="1">
        <p:scale>
          <a:sx n="52" d="100"/>
          <a:sy n="52" d="100"/>
        </p:scale>
        <p:origin x="965" y="6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BF18944-D6FA-56D4-FD40-79D83DBD4AAC}"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51C3244-B1D7-8B3E-B480-BDDD44BB755E}"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FAAC240-CDCB-4B3E-A3FD-AAFE001FB73F}"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96FD67-E116-32D4-510D-13CDE925C7C2}"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96FD67-E116-32D4-510D-13CDE925C7C2}" type="slidenum">
              <a:rPr/>
              <a:t>5</a:t>
            </a:fld>
            <a:endParaRPr/>
          </a:p>
        </p:txBody>
      </p:sp>
    </p:spTree>
    <p:extLst>
      <p:ext uri="{BB962C8B-B14F-4D97-AF65-F5344CB8AC3E}">
        <p14:creationId xmlns:p14="http://schemas.microsoft.com/office/powerpoint/2010/main" val="2843702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96FD67-E116-32D4-510D-13CDE925C7C2}" type="slidenum">
              <a:rPr/>
              <a:t>6</a:t>
            </a:fld>
            <a:endParaRPr/>
          </a:p>
        </p:txBody>
      </p:sp>
    </p:spTree>
    <p:extLst>
      <p:ext uri="{BB962C8B-B14F-4D97-AF65-F5344CB8AC3E}">
        <p14:creationId xmlns:p14="http://schemas.microsoft.com/office/powerpoint/2010/main" val="1713836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96FD67-E116-32D4-510D-13CDE925C7C2}" type="slidenum">
              <a:rPr/>
              <a:t>7</a:t>
            </a:fld>
            <a:endParaRPr/>
          </a:p>
        </p:txBody>
      </p:sp>
    </p:spTree>
    <p:extLst>
      <p:ext uri="{BB962C8B-B14F-4D97-AF65-F5344CB8AC3E}">
        <p14:creationId xmlns:p14="http://schemas.microsoft.com/office/powerpoint/2010/main" val="1030826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96FD67-E116-32D4-510D-13CDE925C7C2}" type="slidenum">
              <a:rPr/>
              <a:t>8</a:t>
            </a:fld>
            <a:endParaRPr/>
          </a:p>
        </p:txBody>
      </p:sp>
    </p:spTree>
    <p:extLst>
      <p:ext uri="{BB962C8B-B14F-4D97-AF65-F5344CB8AC3E}">
        <p14:creationId xmlns:p14="http://schemas.microsoft.com/office/powerpoint/2010/main" val="4263067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9EC8BC-B3D1-A74E-C214-6A6C616F21EC}"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85CC06C-4856-61F3-0BF2-E27DEFF228F3}" type="slidenum">
              <a:rPr/>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obj" preserve="1" userDrawn="1">
  <p:cSld name="Title Slide">
    <p:spTree>
      <p:nvGrpSpPr>
        <p:cNvPr id="1" name=""/>
        <p:cNvGrpSpPr/>
        <p:nvPr/>
      </p:nvGrpSpPr>
      <p:grpSpPr bwMode="auto">
        <a:xfrm>
          <a:off x="0" y="0"/>
          <a:ext cx="0" cy="0"/>
          <a:chOff x="0" y="0"/>
          <a:chExt cx="0" cy="0"/>
        </a:xfrm>
      </p:grpSpPr>
      <p:sp>
        <p:nvSpPr>
          <p:cNvPr id="2018149164" name="Holder 2"/>
          <p:cNvSpPr>
            <a:spLocks noGrp="1"/>
          </p:cNvSpPr>
          <p:nvPr>
            <p:ph type="ctrTitle"/>
          </p:nvPr>
        </p:nvSpPr>
        <p:spPr bwMode="auto">
          <a:xfrm>
            <a:off x="1371600" y="3188970"/>
            <a:ext cx="15544800" cy="2160270"/>
          </a:xfrm>
          <a:prstGeom prst="rect">
            <a:avLst/>
          </a:prstGeom>
        </p:spPr>
        <p:txBody>
          <a:bodyPr wrap="square" lIns="0" tIns="0" rIns="0" bIns="0">
            <a:spAutoFit/>
          </a:bodyPr>
          <a:lstStyle>
            <a:lvl1pPr>
              <a:defRPr sz="2600" b="0" i="0">
                <a:solidFill>
                  <a:schemeClr val="bg1"/>
                </a:solidFill>
                <a:latin typeface="Arial"/>
                <a:cs typeface="Arial"/>
              </a:defRPr>
            </a:lvl1pPr>
          </a:lstStyle>
          <a:p>
            <a:pPr>
              <a:defRPr/>
            </a:pPr>
            <a:endParaRPr/>
          </a:p>
        </p:txBody>
      </p:sp>
      <p:sp>
        <p:nvSpPr>
          <p:cNvPr id="629003789" name="Holder 3"/>
          <p:cNvSpPr>
            <a:spLocks noGrp="1"/>
          </p:cNvSpPr>
          <p:nvPr>
            <p:ph type="subTitle" idx="4"/>
          </p:nvPr>
        </p:nvSpPr>
        <p:spPr bwMode="auto">
          <a:xfrm>
            <a:off x="2743200" y="5760720"/>
            <a:ext cx="12801600" cy="2571750"/>
          </a:xfrm>
          <a:prstGeom prst="rect">
            <a:avLst/>
          </a:prstGeom>
        </p:spPr>
        <p:txBody>
          <a:bodyPr wrap="square" lIns="0" tIns="0" rIns="0" bIns="0">
            <a:spAutoFit/>
          </a:bodyPr>
          <a:lstStyle>
            <a:lvl1pPr>
              <a:defRPr sz="1800" b="0" i="0">
                <a:solidFill>
                  <a:schemeClr val="tx1"/>
                </a:solidFill>
                <a:latin typeface="Calibri"/>
                <a:cs typeface="Calibri"/>
              </a:defRPr>
            </a:lvl1pPr>
          </a:lstStyle>
          <a:p>
            <a:pPr>
              <a:defRPr/>
            </a:pPr>
            <a:endParaRPr/>
          </a:p>
        </p:txBody>
      </p:sp>
      <p:sp>
        <p:nvSpPr>
          <p:cNvPr id="213754297"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678705121"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6/15/2026</a:t>
            </a:fld>
            <a:endParaRPr/>
          </a:p>
        </p:txBody>
      </p:sp>
      <p:sp>
        <p:nvSpPr>
          <p:cNvPr id="785124094"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627524495" name="Holder 2"/>
          <p:cNvSpPr>
            <a:spLocks noGrp="1"/>
          </p:cNvSpPr>
          <p:nvPr>
            <p:ph type="title"/>
          </p:nvPr>
        </p:nvSpPr>
        <p:spPr bwMode="auto"/>
        <p:txBody>
          <a:bodyPr lIns="0" tIns="0" rIns="0" bIns="0"/>
          <a:lstStyle>
            <a:lvl1pPr>
              <a:defRPr sz="2600" b="0" i="0">
                <a:solidFill>
                  <a:schemeClr val="bg1"/>
                </a:solidFill>
                <a:latin typeface="Arial"/>
                <a:cs typeface="Arial"/>
              </a:defRPr>
            </a:lvl1pPr>
          </a:lstStyle>
          <a:p>
            <a:pPr>
              <a:defRPr/>
            </a:pPr>
            <a:endParaRPr/>
          </a:p>
        </p:txBody>
      </p:sp>
      <p:sp>
        <p:nvSpPr>
          <p:cNvPr id="325639691" name="Holder 3"/>
          <p:cNvSpPr>
            <a:spLocks noGrp="1"/>
          </p:cNvSpPr>
          <p:nvPr>
            <p:ph type="body" idx="1"/>
          </p:nvPr>
        </p:nvSpPr>
        <p:spPr bwMode="auto"/>
        <p:txBody>
          <a:bodyPr lIns="0" tIns="0" rIns="0" bIns="0"/>
          <a:lstStyle>
            <a:lvl1pPr>
              <a:defRPr sz="1800" b="0" i="0">
                <a:solidFill>
                  <a:schemeClr val="tx1"/>
                </a:solidFill>
                <a:latin typeface="Calibri"/>
                <a:cs typeface="Calibri"/>
              </a:defRPr>
            </a:lvl1pPr>
          </a:lstStyle>
          <a:p>
            <a:pPr>
              <a:defRPr/>
            </a:pPr>
            <a:endParaRPr/>
          </a:p>
        </p:txBody>
      </p:sp>
      <p:sp>
        <p:nvSpPr>
          <p:cNvPr id="2139457769"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483770364"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6/15/2026</a:t>
            </a:fld>
            <a:endParaRPr/>
          </a:p>
        </p:txBody>
      </p:sp>
      <p:sp>
        <p:nvSpPr>
          <p:cNvPr id="1291913832"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userDrawn="1">
  <p:cSld name="Two Content">
    <p:spTree>
      <p:nvGrpSpPr>
        <p:cNvPr id="1" name=""/>
        <p:cNvGrpSpPr/>
        <p:nvPr/>
      </p:nvGrpSpPr>
      <p:grpSpPr bwMode="auto">
        <a:xfrm>
          <a:off x="0" y="0"/>
          <a:ext cx="0" cy="0"/>
          <a:chOff x="0" y="0"/>
          <a:chExt cx="0" cy="0"/>
        </a:xfrm>
      </p:grpSpPr>
      <p:sp>
        <p:nvSpPr>
          <p:cNvPr id="1112662680" name="Holder 2"/>
          <p:cNvSpPr>
            <a:spLocks noGrp="1"/>
          </p:cNvSpPr>
          <p:nvPr>
            <p:ph type="title"/>
          </p:nvPr>
        </p:nvSpPr>
        <p:spPr bwMode="auto"/>
        <p:txBody>
          <a:bodyPr lIns="0" tIns="0" rIns="0" bIns="0"/>
          <a:lstStyle>
            <a:lvl1pPr>
              <a:defRPr sz="2600" b="0" i="0">
                <a:solidFill>
                  <a:schemeClr val="bg1"/>
                </a:solidFill>
                <a:latin typeface="Arial"/>
                <a:cs typeface="Arial"/>
              </a:defRPr>
            </a:lvl1pPr>
          </a:lstStyle>
          <a:p>
            <a:pPr>
              <a:defRPr/>
            </a:pPr>
            <a:endParaRPr/>
          </a:p>
        </p:txBody>
      </p:sp>
      <p:sp>
        <p:nvSpPr>
          <p:cNvPr id="1510550572" name="Holder 3"/>
          <p:cNvSpPr>
            <a:spLocks noGrp="1"/>
          </p:cNvSpPr>
          <p:nvPr>
            <p:ph sz="half" idx="2"/>
          </p:nvPr>
        </p:nvSpPr>
        <p:spPr bwMode="auto">
          <a:xfrm>
            <a:off x="914400" y="2366010"/>
            <a:ext cx="7955280" cy="6789420"/>
          </a:xfrm>
          <a:prstGeom prst="rect">
            <a:avLst/>
          </a:prstGeom>
        </p:spPr>
        <p:txBody>
          <a:bodyPr wrap="square" lIns="0" tIns="0" rIns="0" bIns="0">
            <a:spAutoFit/>
          </a:bodyPr>
          <a:lstStyle>
            <a:lvl1pPr>
              <a:defRPr/>
            </a:lvl1pPr>
          </a:lstStyle>
          <a:p>
            <a:pPr>
              <a:defRPr/>
            </a:pPr>
            <a:endParaRPr/>
          </a:p>
        </p:txBody>
      </p:sp>
      <p:sp>
        <p:nvSpPr>
          <p:cNvPr id="1443120115" name="Holder 4"/>
          <p:cNvSpPr>
            <a:spLocks noGrp="1"/>
          </p:cNvSpPr>
          <p:nvPr>
            <p:ph sz="half" idx="3"/>
          </p:nvPr>
        </p:nvSpPr>
        <p:spPr bwMode="auto">
          <a:xfrm>
            <a:off x="9418320" y="2366010"/>
            <a:ext cx="7955280" cy="6789420"/>
          </a:xfrm>
          <a:prstGeom prst="rect">
            <a:avLst/>
          </a:prstGeom>
        </p:spPr>
        <p:txBody>
          <a:bodyPr wrap="square" lIns="0" tIns="0" rIns="0" bIns="0">
            <a:spAutoFit/>
          </a:bodyPr>
          <a:lstStyle>
            <a:lvl1pPr>
              <a:defRPr/>
            </a:lvl1pPr>
          </a:lstStyle>
          <a:p>
            <a:pPr>
              <a:defRPr/>
            </a:pPr>
            <a:endParaRPr/>
          </a:p>
        </p:txBody>
      </p:sp>
      <p:sp>
        <p:nvSpPr>
          <p:cNvPr id="924331020" name="Holder 5"/>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275952006" name="Holder 6"/>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6/15/2026</a:t>
            </a:fld>
            <a:endParaRPr/>
          </a:p>
        </p:txBody>
      </p:sp>
      <p:sp>
        <p:nvSpPr>
          <p:cNvPr id="577549689" name="Holder 7"/>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itle Only">
    <p:spTree>
      <p:nvGrpSpPr>
        <p:cNvPr id="1" name=""/>
        <p:cNvGrpSpPr/>
        <p:nvPr/>
      </p:nvGrpSpPr>
      <p:grpSpPr bwMode="auto">
        <a:xfrm>
          <a:off x="0" y="0"/>
          <a:ext cx="0" cy="0"/>
          <a:chOff x="0" y="0"/>
          <a:chExt cx="0" cy="0"/>
        </a:xfrm>
      </p:grpSpPr>
      <p:sp>
        <p:nvSpPr>
          <p:cNvPr id="1127847346" name="Holder 2"/>
          <p:cNvSpPr>
            <a:spLocks noGrp="1"/>
          </p:cNvSpPr>
          <p:nvPr>
            <p:ph type="title"/>
          </p:nvPr>
        </p:nvSpPr>
        <p:spPr bwMode="auto"/>
        <p:txBody>
          <a:bodyPr lIns="0" tIns="0" rIns="0" bIns="0"/>
          <a:lstStyle>
            <a:lvl1pPr>
              <a:defRPr sz="2600" b="0" i="0">
                <a:solidFill>
                  <a:schemeClr val="bg1"/>
                </a:solidFill>
                <a:latin typeface="Arial"/>
                <a:cs typeface="Arial"/>
              </a:defRPr>
            </a:lvl1pPr>
          </a:lstStyle>
          <a:p>
            <a:pPr>
              <a:defRPr/>
            </a:pPr>
            <a:endParaRPr/>
          </a:p>
        </p:txBody>
      </p:sp>
      <p:sp>
        <p:nvSpPr>
          <p:cNvPr id="748535332" name="Holder 3"/>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921483583" name="Holder 4"/>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6/15/2026</a:t>
            </a:fld>
            <a:endParaRPr/>
          </a:p>
        </p:txBody>
      </p:sp>
      <p:sp>
        <p:nvSpPr>
          <p:cNvPr id="43323899" name="Holder 5"/>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obj" preserve="1" userDrawn="1">
  <p:cSld name="Blank">
    <p:bg>
      <p:bgPr>
        <a:solidFill>
          <a:schemeClr val="bg1"/>
        </a:solidFill>
        <a:effectLst/>
      </p:bgPr>
    </p:bg>
    <p:spTree>
      <p:nvGrpSpPr>
        <p:cNvPr id="1" name=""/>
        <p:cNvGrpSpPr/>
        <p:nvPr/>
      </p:nvGrpSpPr>
      <p:grpSpPr bwMode="auto">
        <a:xfrm>
          <a:off x="0" y="0"/>
          <a:ext cx="0" cy="0"/>
          <a:chOff x="0" y="0"/>
          <a:chExt cx="0" cy="0"/>
        </a:xfrm>
      </p:grpSpPr>
      <p:pic>
        <p:nvPicPr>
          <p:cNvPr id="169982878" name="bg object 16"/>
          <p:cNvPicPr/>
          <p:nvPr/>
        </p:nvPicPr>
        <p:blipFill rotWithShape="1">
          <a:blip r:embed="rId2"/>
          <a:stretch/>
        </p:blipFill>
        <p:spPr bwMode="auto">
          <a:xfrm>
            <a:off x="0" y="0"/>
            <a:ext cx="18288000" cy="10287000"/>
          </a:xfrm>
          <a:prstGeom prst="rect">
            <a:avLst/>
          </a:prstGeom>
        </p:spPr>
      </p:pic>
      <p:sp>
        <p:nvSpPr>
          <p:cNvPr id="427546125" name="Holder 2"/>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330167427" name="Holder 3"/>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6/15/2026</a:t>
            </a:fld>
            <a:endParaRPr/>
          </a:p>
        </p:txBody>
      </p:sp>
      <p:sp>
        <p:nvSpPr>
          <p:cNvPr id="509676551" name="Holder 4"/>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bwMode="auto">
        <a:xfrm>
          <a:off x="0" y="0"/>
          <a:ext cx="0" cy="0"/>
          <a:chOff x="0" y="0"/>
          <a:chExt cx="0" cy="0"/>
        </a:xfrm>
      </p:grpSpPr>
      <p:pic>
        <p:nvPicPr>
          <p:cNvPr id="1593465348" name="bg object 16"/>
          <p:cNvPicPr/>
          <p:nvPr/>
        </p:nvPicPr>
        <p:blipFill rotWithShape="1">
          <a:blip r:embed="rId7"/>
          <a:stretch/>
        </p:blipFill>
        <p:spPr bwMode="auto">
          <a:xfrm>
            <a:off x="0" y="0"/>
            <a:ext cx="18288000" cy="10287000"/>
          </a:xfrm>
          <a:prstGeom prst="rect">
            <a:avLst/>
          </a:prstGeom>
        </p:spPr>
      </p:pic>
      <p:sp>
        <p:nvSpPr>
          <p:cNvPr id="2129486492" name="Holder 2"/>
          <p:cNvSpPr>
            <a:spLocks noGrp="1"/>
          </p:cNvSpPr>
          <p:nvPr>
            <p:ph type="title"/>
          </p:nvPr>
        </p:nvSpPr>
        <p:spPr bwMode="auto">
          <a:xfrm>
            <a:off x="1212644" y="475122"/>
            <a:ext cx="10993755" cy="421640"/>
          </a:xfrm>
          <a:prstGeom prst="rect">
            <a:avLst/>
          </a:prstGeom>
        </p:spPr>
        <p:txBody>
          <a:bodyPr wrap="square" lIns="0" tIns="0" rIns="0" bIns="0">
            <a:spAutoFit/>
          </a:bodyPr>
          <a:lstStyle>
            <a:lvl1pPr>
              <a:defRPr sz="2600" b="0" i="0">
                <a:solidFill>
                  <a:schemeClr val="bg1"/>
                </a:solidFill>
                <a:latin typeface="Arial"/>
                <a:cs typeface="Arial"/>
              </a:defRPr>
            </a:lvl1pPr>
          </a:lstStyle>
          <a:p>
            <a:pPr>
              <a:defRPr/>
            </a:pPr>
            <a:endParaRPr/>
          </a:p>
        </p:txBody>
      </p:sp>
      <p:sp>
        <p:nvSpPr>
          <p:cNvPr id="336246971" name="Holder 3"/>
          <p:cNvSpPr>
            <a:spLocks noGrp="1"/>
          </p:cNvSpPr>
          <p:nvPr>
            <p:ph type="body" idx="1"/>
          </p:nvPr>
        </p:nvSpPr>
        <p:spPr bwMode="auto">
          <a:xfrm>
            <a:off x="8231123" y="1590154"/>
            <a:ext cx="9259568" cy="4782184"/>
          </a:xfrm>
          <a:prstGeom prst="rect">
            <a:avLst/>
          </a:prstGeom>
        </p:spPr>
        <p:txBody>
          <a:bodyPr wrap="square" lIns="0" tIns="0" rIns="0" bIns="0">
            <a:spAutoFit/>
          </a:bodyPr>
          <a:lstStyle>
            <a:lvl1pPr>
              <a:defRPr sz="1800" b="0" i="0">
                <a:solidFill>
                  <a:schemeClr val="tx1"/>
                </a:solidFill>
                <a:latin typeface="Calibri"/>
                <a:cs typeface="Calibri"/>
              </a:defRPr>
            </a:lvl1pPr>
          </a:lstStyle>
          <a:p>
            <a:pPr>
              <a:defRPr/>
            </a:pPr>
            <a:endParaRPr/>
          </a:p>
        </p:txBody>
      </p:sp>
      <p:sp>
        <p:nvSpPr>
          <p:cNvPr id="664995257" name="Holder 4"/>
          <p:cNvSpPr>
            <a:spLocks noGrp="1"/>
          </p:cNvSpPr>
          <p:nvPr>
            <p:ph type="ftr" sz="quarter" idx="5"/>
          </p:nvPr>
        </p:nvSpPr>
        <p:spPr bwMode="auto">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pPr>
              <a:defRPr/>
            </a:pPr>
            <a:endParaRPr/>
          </a:p>
        </p:txBody>
      </p:sp>
      <p:sp>
        <p:nvSpPr>
          <p:cNvPr id="403906267" name="Holder 5"/>
          <p:cNvSpPr>
            <a:spLocks noGrp="1"/>
          </p:cNvSpPr>
          <p:nvPr>
            <p:ph type="dt" sz="half" idx="6"/>
          </p:nvPr>
        </p:nvSpPr>
        <p:spPr bwMode="auto">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pPr>
              <a:defRPr/>
            </a:pPr>
            <a:fld id="{1D8BD707-D9CF-40AE-B4C6-C98DA3205C09}" type="datetimeFigureOut">
              <a:rPr lang="en-US"/>
              <a:t>6/15/2026</a:t>
            </a:fld>
            <a:endParaRPr/>
          </a:p>
        </p:txBody>
      </p:sp>
      <p:sp>
        <p:nvSpPr>
          <p:cNvPr id="619254908" name="Holder 6"/>
          <p:cNvSpPr>
            <a:spLocks noGrp="1"/>
          </p:cNvSpPr>
          <p:nvPr>
            <p:ph type="sldNum" sz="quarter" idx="7"/>
          </p:nvPr>
        </p:nvSpPr>
        <p:spPr bwMode="auto">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pPr>
              <a:defRPr/>
            </a:pPr>
            <a:fld id="{B6F15528-21DE-4FAA-801E-634DDDAF4B2B}" type="slidenum">
              <a:rPr/>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18435529" name="object 2"/>
          <p:cNvSpPr txBox="1"/>
          <p:nvPr/>
        </p:nvSpPr>
        <p:spPr bwMode="auto">
          <a:xfrm>
            <a:off x="4025952" y="1870683"/>
            <a:ext cx="8243874" cy="7525744"/>
          </a:xfrm>
          <a:prstGeom prst="rect">
            <a:avLst/>
          </a:prstGeom>
        </p:spPr>
        <p:txBody>
          <a:bodyPr vert="horz" wrap="square" lIns="0" tIns="12700" rIns="0" bIns="0" rtlCol="0">
            <a:spAutoFit/>
          </a:bodyPr>
          <a:lstStyle/>
          <a:p>
            <a:pPr marL="1582420" marR="253365" algn="ctr">
              <a:lnSpc>
                <a:spcPct val="100000"/>
              </a:lnSpc>
              <a:spcBef>
                <a:spcPts val="100"/>
              </a:spcBef>
              <a:defRPr/>
            </a:pPr>
            <a:r>
              <a:rPr sz="2400" b="1" dirty="0">
                <a:solidFill>
                  <a:srgbClr val="FFFFFF"/>
                </a:solidFill>
                <a:latin typeface="Arial"/>
                <a:cs typeface="Arial"/>
              </a:rPr>
              <a:t>Instituto</a:t>
            </a:r>
            <a:r>
              <a:rPr sz="2400" b="1" spc="-40" dirty="0">
                <a:solidFill>
                  <a:srgbClr val="FFFFFF"/>
                </a:solidFill>
                <a:latin typeface="Arial"/>
                <a:cs typeface="Arial"/>
              </a:rPr>
              <a:t> </a:t>
            </a:r>
            <a:r>
              <a:rPr sz="2400" b="1" dirty="0" err="1">
                <a:solidFill>
                  <a:srgbClr val="FFFFFF"/>
                </a:solidFill>
                <a:latin typeface="Arial"/>
                <a:cs typeface="Arial"/>
              </a:rPr>
              <a:t>Tecnológico</a:t>
            </a:r>
            <a:r>
              <a:rPr sz="2400" b="1" spc="-40" dirty="0">
                <a:solidFill>
                  <a:srgbClr val="FFFFFF"/>
                </a:solidFill>
                <a:latin typeface="Arial"/>
                <a:cs typeface="Arial"/>
              </a:rPr>
              <a:t> </a:t>
            </a:r>
            <a:r>
              <a:rPr sz="2400" b="1" dirty="0">
                <a:solidFill>
                  <a:srgbClr val="FFFFFF"/>
                </a:solidFill>
                <a:latin typeface="Arial"/>
                <a:cs typeface="Arial"/>
              </a:rPr>
              <a:t>de</a:t>
            </a:r>
            <a:r>
              <a:rPr sz="2400" b="1" spc="-40" dirty="0">
                <a:solidFill>
                  <a:srgbClr val="FFFFFF"/>
                </a:solidFill>
                <a:latin typeface="Arial"/>
                <a:cs typeface="Arial"/>
              </a:rPr>
              <a:t> </a:t>
            </a:r>
            <a:r>
              <a:rPr sz="2400" b="1" dirty="0">
                <a:solidFill>
                  <a:srgbClr val="FFFFFF"/>
                </a:solidFill>
                <a:latin typeface="Arial"/>
                <a:cs typeface="Arial"/>
              </a:rPr>
              <a:t>Frontera</a:t>
            </a:r>
            <a:r>
              <a:rPr sz="2400" b="1" spc="-35" dirty="0">
                <a:solidFill>
                  <a:srgbClr val="FFFFFF"/>
                </a:solidFill>
                <a:latin typeface="Arial"/>
                <a:cs typeface="Arial"/>
              </a:rPr>
              <a:t> </a:t>
            </a:r>
            <a:r>
              <a:rPr sz="2400" b="1" spc="-10" dirty="0" err="1">
                <a:solidFill>
                  <a:srgbClr val="FFFFFF"/>
                </a:solidFill>
                <a:latin typeface="Arial"/>
                <a:cs typeface="Arial"/>
              </a:rPr>
              <a:t>Comalapa</a:t>
            </a:r>
            <a:r>
              <a:rPr sz="2400" b="1" spc="-10" dirty="0">
                <a:solidFill>
                  <a:srgbClr val="FFFFFF"/>
                </a:solidFill>
                <a:latin typeface="Arial"/>
                <a:cs typeface="Arial"/>
              </a:rPr>
              <a:t> </a:t>
            </a:r>
            <a:r>
              <a:rPr sz="2400" b="1" dirty="0" err="1">
                <a:solidFill>
                  <a:srgbClr val="FFFFFF"/>
                </a:solidFill>
                <a:latin typeface="Arial"/>
                <a:cs typeface="Arial"/>
              </a:rPr>
              <a:t>Modalidad</a:t>
            </a:r>
            <a:r>
              <a:rPr sz="2400" b="1" spc="-15" dirty="0">
                <a:solidFill>
                  <a:srgbClr val="FFFFFF"/>
                </a:solidFill>
                <a:latin typeface="Arial"/>
                <a:cs typeface="Arial"/>
              </a:rPr>
              <a:t> </a:t>
            </a:r>
            <a:r>
              <a:rPr sz="2400" b="1" spc="-10" dirty="0">
                <a:solidFill>
                  <a:srgbClr val="FFFFFF"/>
                </a:solidFill>
                <a:latin typeface="Arial"/>
                <a:cs typeface="Arial"/>
              </a:rPr>
              <a:t>Mixta</a:t>
            </a:r>
            <a:endParaRPr sz="2400" dirty="0">
              <a:latin typeface="Arial"/>
              <a:cs typeface="Arial"/>
            </a:endParaRPr>
          </a:p>
          <a:p>
            <a:pPr>
              <a:lnSpc>
                <a:spcPct val="100000"/>
              </a:lnSpc>
              <a:spcBef>
                <a:spcPts val="355"/>
              </a:spcBef>
              <a:defRPr/>
            </a:pPr>
            <a:endParaRPr sz="2400" dirty="0">
              <a:latin typeface="Arial"/>
              <a:cs typeface="Arial"/>
            </a:endParaRPr>
          </a:p>
          <a:p>
            <a:pPr marL="1323340" algn="ctr">
              <a:lnSpc>
                <a:spcPct val="100000"/>
              </a:lnSpc>
              <a:defRPr/>
            </a:pPr>
            <a:r>
              <a:rPr sz="2600" b="1" spc="-10" dirty="0">
                <a:solidFill>
                  <a:srgbClr val="FFFFFF"/>
                </a:solidFill>
                <a:latin typeface="Arial"/>
                <a:cs typeface="Arial"/>
              </a:rPr>
              <a:t>Materia:</a:t>
            </a:r>
            <a:endParaRPr sz="2600" dirty="0">
              <a:latin typeface="Arial"/>
              <a:cs typeface="Arial"/>
            </a:endParaRPr>
          </a:p>
          <a:p>
            <a:pPr marL="1322070" algn="ctr">
              <a:lnSpc>
                <a:spcPct val="100000"/>
              </a:lnSpc>
              <a:defRPr/>
            </a:pPr>
            <a:r>
              <a:rPr sz="2600" spc="-10" dirty="0" err="1">
                <a:solidFill>
                  <a:srgbClr val="FFFFFF"/>
                </a:solidFill>
                <a:latin typeface="Arial"/>
                <a:cs typeface="Arial"/>
              </a:rPr>
              <a:t>Administración</a:t>
            </a:r>
            <a:r>
              <a:rPr sz="2600" spc="-60" dirty="0">
                <a:solidFill>
                  <a:srgbClr val="FFFFFF"/>
                </a:solidFill>
                <a:latin typeface="Arial"/>
                <a:cs typeface="Arial"/>
              </a:rPr>
              <a:t> </a:t>
            </a:r>
            <a:r>
              <a:rPr sz="2600" dirty="0">
                <a:solidFill>
                  <a:srgbClr val="FFFFFF"/>
                </a:solidFill>
                <a:latin typeface="Arial"/>
                <a:cs typeface="Arial"/>
              </a:rPr>
              <a:t>de</a:t>
            </a:r>
            <a:r>
              <a:rPr sz="2600" spc="-55" dirty="0">
                <a:solidFill>
                  <a:srgbClr val="FFFFFF"/>
                </a:solidFill>
                <a:latin typeface="Arial"/>
                <a:cs typeface="Arial"/>
              </a:rPr>
              <a:t> </a:t>
            </a:r>
            <a:r>
              <a:rPr sz="2600" dirty="0">
                <a:solidFill>
                  <a:srgbClr val="FFFFFF"/>
                </a:solidFill>
                <a:latin typeface="Arial"/>
                <a:cs typeface="Arial"/>
              </a:rPr>
              <a:t>base</a:t>
            </a:r>
            <a:r>
              <a:rPr sz="2600" spc="-55" dirty="0">
                <a:solidFill>
                  <a:srgbClr val="FFFFFF"/>
                </a:solidFill>
                <a:latin typeface="Arial"/>
                <a:cs typeface="Arial"/>
              </a:rPr>
              <a:t> </a:t>
            </a:r>
            <a:r>
              <a:rPr sz="2600" dirty="0">
                <a:solidFill>
                  <a:srgbClr val="FFFFFF"/>
                </a:solidFill>
                <a:latin typeface="Arial"/>
                <a:cs typeface="Arial"/>
              </a:rPr>
              <a:t>de</a:t>
            </a:r>
            <a:r>
              <a:rPr sz="2600" spc="-60" dirty="0">
                <a:solidFill>
                  <a:srgbClr val="FFFFFF"/>
                </a:solidFill>
                <a:latin typeface="Arial"/>
                <a:cs typeface="Arial"/>
              </a:rPr>
              <a:t> </a:t>
            </a:r>
            <a:r>
              <a:rPr sz="2600" spc="-10" dirty="0" err="1">
                <a:solidFill>
                  <a:srgbClr val="FFFFFF"/>
                </a:solidFill>
                <a:latin typeface="Arial"/>
                <a:cs typeface="Arial"/>
              </a:rPr>
              <a:t>datos</a:t>
            </a:r>
            <a:endParaRPr sz="2600" dirty="0">
              <a:latin typeface="Arial"/>
              <a:cs typeface="Arial"/>
            </a:endParaRPr>
          </a:p>
          <a:p>
            <a:pPr marL="3627754" marR="2297430" indent="1905" algn="ctr">
              <a:lnSpc>
                <a:spcPct val="100000"/>
              </a:lnSpc>
              <a:defRPr/>
            </a:pPr>
            <a:r>
              <a:rPr sz="2600" b="1" spc="-10" dirty="0" err="1">
                <a:solidFill>
                  <a:srgbClr val="FFFFFF"/>
                </a:solidFill>
                <a:latin typeface="Arial"/>
                <a:cs typeface="Arial"/>
              </a:rPr>
              <a:t>Semestre</a:t>
            </a:r>
            <a:r>
              <a:rPr sz="2600" b="1" spc="-10" dirty="0">
                <a:solidFill>
                  <a:srgbClr val="FFFFFF"/>
                </a:solidFill>
                <a:latin typeface="Arial"/>
                <a:cs typeface="Arial"/>
              </a:rPr>
              <a:t>: </a:t>
            </a:r>
            <a:r>
              <a:rPr sz="2600" dirty="0">
                <a:solidFill>
                  <a:srgbClr val="FFFFFF"/>
                </a:solidFill>
                <a:latin typeface="Arial"/>
                <a:cs typeface="Arial"/>
              </a:rPr>
              <a:t>Sexto</a:t>
            </a:r>
            <a:r>
              <a:rPr sz="2600" spc="-80" dirty="0">
                <a:solidFill>
                  <a:srgbClr val="FFFFFF"/>
                </a:solidFill>
                <a:latin typeface="Arial"/>
                <a:cs typeface="Arial"/>
              </a:rPr>
              <a:t> </a:t>
            </a:r>
            <a:r>
              <a:rPr sz="2600" spc="-10" dirty="0" err="1">
                <a:solidFill>
                  <a:srgbClr val="FFFFFF"/>
                </a:solidFill>
                <a:latin typeface="Arial"/>
                <a:cs typeface="Arial"/>
              </a:rPr>
              <a:t>semestre</a:t>
            </a:r>
            <a:r>
              <a:rPr sz="2600" spc="-10" dirty="0">
                <a:solidFill>
                  <a:srgbClr val="FFFFFF"/>
                </a:solidFill>
                <a:latin typeface="Arial"/>
                <a:cs typeface="Arial"/>
              </a:rPr>
              <a:t> </a:t>
            </a:r>
            <a:r>
              <a:rPr sz="2600" b="1" spc="-10" dirty="0" err="1">
                <a:solidFill>
                  <a:srgbClr val="FFFFFF"/>
                </a:solidFill>
                <a:latin typeface="Arial"/>
                <a:cs typeface="Arial"/>
              </a:rPr>
              <a:t>Especialidad</a:t>
            </a:r>
            <a:r>
              <a:rPr sz="2600" b="1" spc="-10" dirty="0">
                <a:solidFill>
                  <a:srgbClr val="FFFFFF"/>
                </a:solidFill>
                <a:latin typeface="Arial"/>
                <a:cs typeface="Arial"/>
              </a:rPr>
              <a:t>:</a:t>
            </a:r>
            <a:endParaRPr sz="2600" dirty="0">
              <a:latin typeface="Arial"/>
              <a:cs typeface="Arial"/>
            </a:endParaRPr>
          </a:p>
          <a:p>
            <a:pPr marL="1317625" algn="ctr">
              <a:lnSpc>
                <a:spcPct val="100000"/>
              </a:lnSpc>
              <a:defRPr/>
            </a:pPr>
            <a:r>
              <a:rPr sz="2600" dirty="0" err="1">
                <a:solidFill>
                  <a:srgbClr val="FFFFFF"/>
                </a:solidFill>
                <a:latin typeface="Arial"/>
                <a:cs typeface="Arial"/>
              </a:rPr>
              <a:t>Ingeniería</a:t>
            </a:r>
            <a:r>
              <a:rPr sz="2600" spc="-95" dirty="0">
                <a:solidFill>
                  <a:srgbClr val="FFFFFF"/>
                </a:solidFill>
                <a:latin typeface="Arial"/>
                <a:cs typeface="Arial"/>
              </a:rPr>
              <a:t> </a:t>
            </a:r>
            <a:r>
              <a:rPr sz="2600" dirty="0" err="1">
                <a:solidFill>
                  <a:srgbClr val="FFFFFF"/>
                </a:solidFill>
                <a:latin typeface="Arial"/>
                <a:cs typeface="Arial"/>
              </a:rPr>
              <a:t>en</a:t>
            </a:r>
            <a:r>
              <a:rPr sz="2600" spc="-90" dirty="0">
                <a:solidFill>
                  <a:srgbClr val="FFFFFF"/>
                </a:solidFill>
                <a:latin typeface="Arial"/>
                <a:cs typeface="Arial"/>
              </a:rPr>
              <a:t> </a:t>
            </a:r>
            <a:r>
              <a:rPr sz="2600" dirty="0" err="1">
                <a:solidFill>
                  <a:srgbClr val="FFFFFF"/>
                </a:solidFill>
                <a:latin typeface="Arial"/>
                <a:cs typeface="Arial"/>
              </a:rPr>
              <a:t>Sistemas</a:t>
            </a:r>
            <a:r>
              <a:rPr sz="2600" spc="-95" dirty="0">
                <a:solidFill>
                  <a:srgbClr val="FFFFFF"/>
                </a:solidFill>
                <a:latin typeface="Arial"/>
                <a:cs typeface="Arial"/>
              </a:rPr>
              <a:t> </a:t>
            </a:r>
            <a:r>
              <a:rPr sz="2600" spc="-10" dirty="0" err="1">
                <a:solidFill>
                  <a:srgbClr val="FFFFFF"/>
                </a:solidFill>
                <a:latin typeface="Arial"/>
                <a:cs typeface="Arial"/>
              </a:rPr>
              <a:t>Computacionales</a:t>
            </a:r>
            <a:r>
              <a:rPr sz="2600" spc="-10" dirty="0">
                <a:solidFill>
                  <a:srgbClr val="FFFFFF"/>
                </a:solidFill>
                <a:latin typeface="Arial"/>
                <a:cs typeface="Arial"/>
              </a:rPr>
              <a:t>.</a:t>
            </a:r>
            <a:endParaRPr sz="2600" dirty="0">
              <a:latin typeface="Arial"/>
              <a:cs typeface="Arial"/>
            </a:endParaRPr>
          </a:p>
          <a:p>
            <a:pPr marL="1322705" algn="ctr">
              <a:lnSpc>
                <a:spcPct val="100000"/>
              </a:lnSpc>
              <a:defRPr/>
            </a:pPr>
            <a:r>
              <a:rPr sz="2600" b="1" dirty="0" err="1">
                <a:solidFill>
                  <a:srgbClr val="FFFFFF"/>
                </a:solidFill>
                <a:latin typeface="Arial"/>
                <a:cs typeface="Arial"/>
              </a:rPr>
              <a:t>Numero</a:t>
            </a:r>
            <a:r>
              <a:rPr sz="2600" b="1" spc="-50" dirty="0">
                <a:solidFill>
                  <a:srgbClr val="FFFFFF"/>
                </a:solidFill>
                <a:latin typeface="Arial"/>
                <a:cs typeface="Arial"/>
              </a:rPr>
              <a:t> </a:t>
            </a:r>
            <a:r>
              <a:rPr sz="2600" b="1" dirty="0">
                <a:solidFill>
                  <a:srgbClr val="FFFFFF"/>
                </a:solidFill>
                <a:latin typeface="Arial"/>
                <a:cs typeface="Arial"/>
              </a:rPr>
              <a:t>de</a:t>
            </a:r>
            <a:r>
              <a:rPr sz="2600" b="1" spc="-50" dirty="0">
                <a:solidFill>
                  <a:srgbClr val="FFFFFF"/>
                </a:solidFill>
                <a:latin typeface="Arial"/>
                <a:cs typeface="Arial"/>
              </a:rPr>
              <a:t> </a:t>
            </a:r>
            <a:r>
              <a:rPr sz="2600" b="1" spc="-10" dirty="0">
                <a:solidFill>
                  <a:srgbClr val="FFFFFF"/>
                </a:solidFill>
                <a:latin typeface="Arial"/>
                <a:cs typeface="Arial"/>
              </a:rPr>
              <a:t>control:</a:t>
            </a:r>
            <a:endParaRPr sz="2600" dirty="0">
              <a:latin typeface="Arial"/>
              <a:cs typeface="Arial"/>
            </a:endParaRPr>
          </a:p>
          <a:p>
            <a:pPr marL="1323974" algn="ctr">
              <a:lnSpc>
                <a:spcPct val="100000"/>
              </a:lnSpc>
              <a:defRPr/>
            </a:pPr>
            <a:r>
              <a:rPr sz="2600" spc="-10" dirty="0">
                <a:solidFill>
                  <a:srgbClr val="FFFFFF"/>
                </a:solidFill>
                <a:latin typeface="Arial"/>
                <a:cs typeface="Arial"/>
              </a:rPr>
              <a:t>231260005</a:t>
            </a:r>
            <a:endParaRPr sz="2600" dirty="0">
              <a:latin typeface="Arial"/>
              <a:cs typeface="Arial"/>
            </a:endParaRPr>
          </a:p>
          <a:p>
            <a:pPr marL="1323340" algn="ctr">
              <a:lnSpc>
                <a:spcPct val="100000"/>
              </a:lnSpc>
              <a:defRPr/>
            </a:pPr>
            <a:r>
              <a:rPr sz="2600" b="1" dirty="0" err="1">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err="1">
                <a:solidFill>
                  <a:srgbClr val="FFFFFF"/>
                </a:solidFill>
                <a:latin typeface="Arial"/>
                <a:cs typeface="Arial"/>
              </a:rPr>
              <a:t>alumno</a:t>
            </a:r>
            <a:r>
              <a:rPr sz="2600" b="1" spc="-10" dirty="0">
                <a:solidFill>
                  <a:srgbClr val="FFFFFF"/>
                </a:solidFill>
                <a:latin typeface="Arial"/>
                <a:cs typeface="Arial"/>
              </a:rPr>
              <a:t>:</a:t>
            </a:r>
            <a:endParaRPr sz="2600" dirty="0">
              <a:latin typeface="Arial"/>
              <a:cs typeface="Arial"/>
            </a:endParaRPr>
          </a:p>
          <a:p>
            <a:pPr marL="1323340" algn="ctr">
              <a:lnSpc>
                <a:spcPct val="100000"/>
              </a:lnSpc>
              <a:defRPr/>
            </a:pPr>
            <a:r>
              <a:rPr sz="2600" dirty="0">
                <a:solidFill>
                  <a:srgbClr val="FFFFFF"/>
                </a:solidFill>
                <a:latin typeface="Arial"/>
                <a:cs typeface="Arial"/>
              </a:rPr>
              <a:t>Eddi</a:t>
            </a:r>
            <a:r>
              <a:rPr sz="2600" spc="-60" dirty="0">
                <a:solidFill>
                  <a:srgbClr val="FFFFFF"/>
                </a:solidFill>
                <a:latin typeface="Arial"/>
                <a:cs typeface="Arial"/>
              </a:rPr>
              <a:t> </a:t>
            </a:r>
            <a:r>
              <a:rPr sz="2600" dirty="0">
                <a:solidFill>
                  <a:srgbClr val="FFFFFF"/>
                </a:solidFill>
                <a:latin typeface="Arial"/>
                <a:cs typeface="Arial"/>
              </a:rPr>
              <a:t>Uriel</a:t>
            </a:r>
            <a:r>
              <a:rPr sz="2600" spc="-55" dirty="0">
                <a:solidFill>
                  <a:srgbClr val="FFFFFF"/>
                </a:solidFill>
                <a:latin typeface="Arial"/>
                <a:cs typeface="Arial"/>
              </a:rPr>
              <a:t> </a:t>
            </a:r>
            <a:r>
              <a:rPr sz="2600" dirty="0">
                <a:solidFill>
                  <a:srgbClr val="FFFFFF"/>
                </a:solidFill>
                <a:latin typeface="Arial"/>
                <a:cs typeface="Arial"/>
              </a:rPr>
              <a:t>Castillo</a:t>
            </a:r>
            <a:r>
              <a:rPr sz="2600" spc="-55" dirty="0">
                <a:solidFill>
                  <a:srgbClr val="FFFFFF"/>
                </a:solidFill>
                <a:latin typeface="Arial"/>
                <a:cs typeface="Arial"/>
              </a:rPr>
              <a:t> </a:t>
            </a:r>
            <a:r>
              <a:rPr sz="2600" spc="-10" dirty="0">
                <a:solidFill>
                  <a:srgbClr val="FFFFFF"/>
                </a:solidFill>
                <a:latin typeface="Arial"/>
                <a:cs typeface="Arial"/>
              </a:rPr>
              <a:t>Sánchez</a:t>
            </a:r>
            <a:endParaRPr sz="2600" dirty="0">
              <a:latin typeface="Arial"/>
              <a:cs typeface="Arial"/>
            </a:endParaRPr>
          </a:p>
          <a:p>
            <a:pPr marL="1323340" algn="ctr">
              <a:lnSpc>
                <a:spcPct val="100000"/>
              </a:lnSpc>
              <a:defRPr/>
            </a:pPr>
            <a:r>
              <a:rPr sz="2600" b="1" dirty="0" err="1">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err="1">
                <a:solidFill>
                  <a:srgbClr val="FFFFFF"/>
                </a:solidFill>
                <a:latin typeface="Arial"/>
                <a:cs typeface="Arial"/>
              </a:rPr>
              <a:t>docente</a:t>
            </a:r>
            <a:r>
              <a:rPr sz="2600" b="1" spc="-10" dirty="0">
                <a:solidFill>
                  <a:srgbClr val="FFFFFF"/>
                </a:solidFill>
                <a:latin typeface="Arial"/>
                <a:cs typeface="Arial"/>
              </a:rPr>
              <a:t>:</a:t>
            </a:r>
            <a:endParaRPr sz="2600" dirty="0">
              <a:latin typeface="Arial"/>
              <a:cs typeface="Arial"/>
            </a:endParaRPr>
          </a:p>
          <a:p>
            <a:pPr marL="1323974" algn="ctr">
              <a:lnSpc>
                <a:spcPct val="100000"/>
              </a:lnSpc>
              <a:defRPr/>
            </a:pPr>
            <a:r>
              <a:rPr sz="2600" dirty="0">
                <a:solidFill>
                  <a:srgbClr val="FFFFFF"/>
                </a:solidFill>
                <a:latin typeface="Arial"/>
                <a:cs typeface="Arial"/>
              </a:rPr>
              <a:t>Francisco</a:t>
            </a:r>
            <a:r>
              <a:rPr sz="2600" spc="-100" dirty="0">
                <a:solidFill>
                  <a:srgbClr val="FFFFFF"/>
                </a:solidFill>
                <a:latin typeface="Arial"/>
                <a:cs typeface="Arial"/>
              </a:rPr>
              <a:t> </a:t>
            </a:r>
            <a:r>
              <a:rPr sz="2600" dirty="0">
                <a:solidFill>
                  <a:srgbClr val="FFFFFF"/>
                </a:solidFill>
                <a:latin typeface="Arial"/>
                <a:cs typeface="Arial"/>
              </a:rPr>
              <a:t>Javier</a:t>
            </a:r>
            <a:r>
              <a:rPr sz="2600" spc="-95" dirty="0">
                <a:solidFill>
                  <a:srgbClr val="FFFFFF"/>
                </a:solidFill>
                <a:latin typeface="Arial"/>
                <a:cs typeface="Arial"/>
              </a:rPr>
              <a:t> </a:t>
            </a:r>
            <a:r>
              <a:rPr sz="2600" dirty="0">
                <a:solidFill>
                  <a:srgbClr val="FFFFFF"/>
                </a:solidFill>
                <a:latin typeface="Arial"/>
                <a:cs typeface="Arial"/>
              </a:rPr>
              <a:t>Mingo</a:t>
            </a:r>
            <a:r>
              <a:rPr sz="2600" spc="-100" dirty="0">
                <a:solidFill>
                  <a:srgbClr val="FFFFFF"/>
                </a:solidFill>
                <a:latin typeface="Arial"/>
                <a:cs typeface="Arial"/>
              </a:rPr>
              <a:t> </a:t>
            </a:r>
            <a:r>
              <a:rPr sz="2600" spc="-10" dirty="0">
                <a:solidFill>
                  <a:srgbClr val="FFFFFF"/>
                </a:solidFill>
                <a:latin typeface="Arial"/>
                <a:cs typeface="Arial"/>
              </a:rPr>
              <a:t>Velazquez</a:t>
            </a:r>
            <a:endParaRPr sz="2600" dirty="0">
              <a:latin typeface="Arial"/>
              <a:cs typeface="Arial"/>
            </a:endParaRPr>
          </a:p>
          <a:p>
            <a:pPr marL="1322705" algn="ctr">
              <a:lnSpc>
                <a:spcPct val="100000"/>
              </a:lnSpc>
              <a:defRPr/>
            </a:pPr>
            <a:r>
              <a:rPr sz="2600" b="1" dirty="0" err="1">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err="1">
                <a:solidFill>
                  <a:srgbClr val="FFFFFF"/>
                </a:solidFill>
                <a:latin typeface="Arial"/>
                <a:cs typeface="Arial"/>
              </a:rPr>
              <a:t>trabajo</a:t>
            </a:r>
            <a:r>
              <a:rPr sz="2600" b="1" spc="-10" dirty="0">
                <a:solidFill>
                  <a:srgbClr val="FFFFFF"/>
                </a:solidFill>
                <a:latin typeface="Arial"/>
                <a:cs typeface="Arial"/>
              </a:rPr>
              <a:t>:</a:t>
            </a:r>
            <a:endParaRPr sz="2600" dirty="0">
              <a:latin typeface="Arial"/>
              <a:cs typeface="Arial"/>
            </a:endParaRPr>
          </a:p>
          <a:p>
            <a:pPr marL="1321435" algn="ctr">
              <a:lnSpc>
                <a:spcPct val="100000"/>
              </a:lnSpc>
              <a:defRPr/>
            </a:pPr>
            <a:r>
              <a:rPr sz="2600" dirty="0">
                <a:solidFill>
                  <a:srgbClr val="FFFFFF"/>
                </a:solidFill>
                <a:latin typeface="Arial"/>
                <a:cs typeface="Arial"/>
              </a:rPr>
              <a:t>Act</a:t>
            </a:r>
            <a:r>
              <a:rPr sz="2600" spc="-60" dirty="0">
                <a:solidFill>
                  <a:srgbClr val="FFFFFF"/>
                </a:solidFill>
                <a:latin typeface="Arial"/>
                <a:cs typeface="Arial"/>
              </a:rPr>
              <a:t> </a:t>
            </a:r>
            <a:r>
              <a:rPr lang="es-ES" sz="2600" spc="-10" dirty="0">
                <a:solidFill>
                  <a:srgbClr val="FFFFFF"/>
                </a:solidFill>
                <a:latin typeface="Arial"/>
                <a:cs typeface="Arial"/>
              </a:rPr>
              <a:t>5.3 Banco de ejercicios</a:t>
            </a:r>
            <a:endParaRPr sz="2600" dirty="0">
              <a:latin typeface="Arial"/>
              <a:cs typeface="Arial"/>
            </a:endParaRPr>
          </a:p>
          <a:p>
            <a:pPr marL="1324610" algn="ctr">
              <a:lnSpc>
                <a:spcPts val="3120"/>
              </a:lnSpc>
              <a:defRPr/>
            </a:pPr>
            <a:r>
              <a:rPr sz="2600" b="1" dirty="0" err="1">
                <a:solidFill>
                  <a:srgbClr val="FFFFFF"/>
                </a:solidFill>
                <a:latin typeface="Arial"/>
                <a:cs typeface="Arial"/>
              </a:rPr>
              <a:t>Fecha</a:t>
            </a:r>
            <a:r>
              <a:rPr sz="2600" b="1" spc="-45" dirty="0">
                <a:solidFill>
                  <a:srgbClr val="FFFFFF"/>
                </a:solidFill>
                <a:latin typeface="Arial"/>
                <a:cs typeface="Arial"/>
              </a:rPr>
              <a:t> </a:t>
            </a:r>
            <a:r>
              <a:rPr sz="2600" b="1" dirty="0">
                <a:solidFill>
                  <a:srgbClr val="FFFFFF"/>
                </a:solidFill>
                <a:latin typeface="Arial"/>
                <a:cs typeface="Arial"/>
              </a:rPr>
              <a:t>de</a:t>
            </a:r>
            <a:r>
              <a:rPr sz="2600" b="1" spc="-40" dirty="0">
                <a:solidFill>
                  <a:srgbClr val="FFFFFF"/>
                </a:solidFill>
                <a:latin typeface="Arial"/>
                <a:cs typeface="Arial"/>
              </a:rPr>
              <a:t> </a:t>
            </a:r>
            <a:r>
              <a:rPr sz="2600" b="1" spc="-10" dirty="0" err="1">
                <a:solidFill>
                  <a:srgbClr val="FFFFFF"/>
                </a:solidFill>
                <a:latin typeface="Arial"/>
                <a:cs typeface="Arial"/>
              </a:rPr>
              <a:t>entrega</a:t>
            </a:r>
            <a:r>
              <a:rPr sz="2600" spc="-10" dirty="0">
                <a:solidFill>
                  <a:srgbClr val="FFFFFF"/>
                </a:solidFill>
                <a:latin typeface="Arial"/>
                <a:cs typeface="Arial"/>
              </a:rPr>
              <a:t>:</a:t>
            </a:r>
            <a:endParaRPr sz="2600" dirty="0">
              <a:latin typeface="Arial"/>
              <a:cs typeface="Arial"/>
            </a:endParaRPr>
          </a:p>
          <a:p>
            <a:pPr algn="ctr">
              <a:lnSpc>
                <a:spcPts val="3360"/>
              </a:lnSpc>
              <a:defRPr/>
            </a:pPr>
            <a:r>
              <a:rPr sz="2800" dirty="0">
                <a:solidFill>
                  <a:srgbClr val="FFFFFF"/>
                </a:solidFill>
                <a:latin typeface="Arial"/>
                <a:cs typeface="Arial"/>
              </a:rPr>
              <a:t>Frontera</a:t>
            </a:r>
            <a:r>
              <a:rPr sz="2800" spc="-80" dirty="0">
                <a:solidFill>
                  <a:srgbClr val="FFFFFF"/>
                </a:solidFill>
                <a:latin typeface="Arial"/>
                <a:cs typeface="Arial"/>
              </a:rPr>
              <a:t> </a:t>
            </a:r>
            <a:r>
              <a:rPr sz="2800" dirty="0" err="1">
                <a:solidFill>
                  <a:srgbClr val="FFFFFF"/>
                </a:solidFill>
                <a:latin typeface="Arial"/>
                <a:cs typeface="Arial"/>
              </a:rPr>
              <a:t>comalapa</a:t>
            </a:r>
            <a:r>
              <a:rPr sz="2800" dirty="0">
                <a:solidFill>
                  <a:srgbClr val="FFFFFF"/>
                </a:solidFill>
                <a:latin typeface="Arial"/>
                <a:cs typeface="Arial"/>
              </a:rPr>
              <a:t>,</a:t>
            </a:r>
            <a:r>
              <a:rPr sz="2800" spc="-80" dirty="0">
                <a:solidFill>
                  <a:srgbClr val="FFFFFF"/>
                </a:solidFill>
                <a:latin typeface="Arial"/>
                <a:cs typeface="Arial"/>
              </a:rPr>
              <a:t> </a:t>
            </a:r>
            <a:r>
              <a:rPr sz="2800" dirty="0">
                <a:solidFill>
                  <a:srgbClr val="FFFFFF"/>
                </a:solidFill>
                <a:latin typeface="Arial"/>
                <a:cs typeface="Arial"/>
              </a:rPr>
              <a:t>Chiapas</a:t>
            </a:r>
            <a:r>
              <a:rPr sz="2800" spc="-75" dirty="0">
                <a:solidFill>
                  <a:srgbClr val="FFFFFF"/>
                </a:solidFill>
                <a:latin typeface="Arial"/>
                <a:cs typeface="Arial"/>
              </a:rPr>
              <a:t> </a:t>
            </a:r>
            <a:r>
              <a:rPr sz="2800" dirty="0">
                <a:solidFill>
                  <a:srgbClr val="FFFFFF"/>
                </a:solidFill>
                <a:latin typeface="Arial"/>
                <a:cs typeface="Arial"/>
              </a:rPr>
              <a:t>a</a:t>
            </a:r>
            <a:r>
              <a:rPr sz="2800" spc="-80" dirty="0">
                <a:solidFill>
                  <a:srgbClr val="FFFFFF"/>
                </a:solidFill>
                <a:latin typeface="Arial"/>
                <a:cs typeface="Arial"/>
              </a:rPr>
              <a:t> </a:t>
            </a:r>
            <a:r>
              <a:rPr lang="es-ES" sz="2800" spc="-74" dirty="0">
                <a:solidFill>
                  <a:srgbClr val="FFFFFF"/>
                </a:solidFill>
                <a:latin typeface="Arial"/>
                <a:cs typeface="Arial"/>
              </a:rPr>
              <a:t>11 de junio</a:t>
            </a:r>
            <a:r>
              <a:rPr sz="2800" spc="-75" dirty="0">
                <a:solidFill>
                  <a:srgbClr val="FFFFFF"/>
                </a:solidFill>
                <a:latin typeface="Arial"/>
                <a:cs typeface="Arial"/>
              </a:rPr>
              <a:t> </a:t>
            </a:r>
            <a:r>
              <a:rPr sz="2800" dirty="0">
                <a:solidFill>
                  <a:srgbClr val="FFFFFF"/>
                </a:solidFill>
                <a:latin typeface="Arial"/>
                <a:cs typeface="Arial"/>
              </a:rPr>
              <a:t>del</a:t>
            </a:r>
            <a:r>
              <a:rPr sz="2800" spc="-80" dirty="0">
                <a:solidFill>
                  <a:srgbClr val="FFFFFF"/>
                </a:solidFill>
                <a:latin typeface="Arial"/>
                <a:cs typeface="Arial"/>
              </a:rPr>
              <a:t> </a:t>
            </a:r>
            <a:r>
              <a:rPr sz="2800" spc="-20" dirty="0">
                <a:solidFill>
                  <a:srgbClr val="FFFFFF"/>
                </a:solidFill>
                <a:latin typeface="Arial"/>
                <a:cs typeface="Arial"/>
              </a:rPr>
              <a:t>2026</a:t>
            </a:r>
            <a:endParaRPr sz="2800" dirty="0">
              <a:latin typeface="Arial"/>
              <a:cs typeface="Arial"/>
            </a:endParaRPr>
          </a:p>
        </p:txBody>
      </p:sp>
      <p:pic>
        <p:nvPicPr>
          <p:cNvPr id="1917351689" name="object 3"/>
          <p:cNvPicPr/>
          <p:nvPr/>
        </p:nvPicPr>
        <p:blipFill rotWithShape="1">
          <a:blip r:embed="rId3"/>
          <a:stretch/>
        </p:blipFill>
        <p:spPr bwMode="auto">
          <a:xfrm>
            <a:off x="5830455" y="461817"/>
            <a:ext cx="5561326" cy="6330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pic>
        <p:nvPicPr>
          <p:cNvPr id="830837920" name="object 2"/>
          <p:cNvPicPr/>
          <p:nvPr/>
        </p:nvPicPr>
        <p:blipFill rotWithShape="1">
          <a:blip r:embed="rId3"/>
          <a:stretch/>
        </p:blipFill>
        <p:spPr bwMode="auto">
          <a:xfrm>
            <a:off x="0" y="0"/>
            <a:ext cx="18288000" cy="10287000"/>
          </a:xfrm>
          <a:prstGeom prst="rect">
            <a:avLst/>
          </a:prstGeom>
        </p:spPr>
      </p:pic>
      <p:pic>
        <p:nvPicPr>
          <p:cNvPr id="1876184189" name="object 3"/>
          <p:cNvPicPr/>
          <p:nvPr/>
        </p:nvPicPr>
        <p:blipFill rotWithShape="1">
          <a:blip r:embed="rId4"/>
          <a:stretch/>
        </p:blipFill>
        <p:spPr bwMode="auto">
          <a:xfrm>
            <a:off x="10217454" y="2075217"/>
            <a:ext cx="6579146" cy="6579146"/>
          </a:xfrm>
          <a:prstGeom prst="rect">
            <a:avLst/>
          </a:prstGeom>
        </p:spPr>
      </p:pic>
      <p:pic>
        <p:nvPicPr>
          <p:cNvPr id="135897183" name="object 4"/>
          <p:cNvPicPr/>
          <p:nvPr/>
        </p:nvPicPr>
        <p:blipFill rotWithShape="1">
          <a:blip r:embed="rId5"/>
          <a:stretch/>
        </p:blipFill>
        <p:spPr bwMode="auto">
          <a:xfrm>
            <a:off x="0" y="8710282"/>
            <a:ext cx="3608796" cy="920165"/>
          </a:xfrm>
          <a:prstGeom prst="rect">
            <a:avLst/>
          </a:prstGeom>
        </p:spPr>
      </p:pic>
      <p:pic>
        <p:nvPicPr>
          <p:cNvPr id="1329934680" name="object 5"/>
          <p:cNvPicPr/>
          <p:nvPr/>
        </p:nvPicPr>
        <p:blipFill rotWithShape="1">
          <a:blip r:embed="rId6"/>
          <a:stretch/>
        </p:blipFill>
        <p:spPr bwMode="auto">
          <a:xfrm>
            <a:off x="13401929" y="0"/>
            <a:ext cx="3857421" cy="617938"/>
          </a:xfrm>
          <a:prstGeom prst="rect">
            <a:avLst/>
          </a:prstGeom>
        </p:spPr>
      </p:pic>
      <p:sp>
        <p:nvSpPr>
          <p:cNvPr id="800057142" name="object 6"/>
          <p:cNvSpPr txBox="1">
            <a:spLocks noGrp="1"/>
          </p:cNvSpPr>
          <p:nvPr>
            <p:ph type="title"/>
          </p:nvPr>
        </p:nvSpPr>
        <p:spPr bwMode="auto">
          <a:xfrm>
            <a:off x="1981200" y="963800"/>
            <a:ext cx="8663474" cy="1293219"/>
          </a:xfrm>
          <a:prstGeom prst="rect">
            <a:avLst/>
          </a:prstGeom>
        </p:spPr>
        <p:txBody>
          <a:bodyPr vert="horz" wrap="square" lIns="0" tIns="12700" rIns="0" bIns="0" rtlCol="0">
            <a:spAutoFit/>
          </a:bodyPr>
          <a:lstStyle/>
          <a:p>
            <a:pPr marL="12700">
              <a:lnSpc>
                <a:spcPct val="100000"/>
              </a:lnSpc>
              <a:spcBef>
                <a:spcPts val="100"/>
              </a:spcBef>
              <a:defRPr/>
            </a:pPr>
            <a:r>
              <a:rPr sz="8400" spc="195" dirty="0"/>
              <a:t>INTRODUCCI</a:t>
            </a:r>
            <a:r>
              <a:rPr lang="es-ES" sz="8400" spc="194" dirty="0"/>
              <a:t>O</a:t>
            </a:r>
            <a:r>
              <a:rPr sz="8400" spc="194" dirty="0"/>
              <a:t>N</a:t>
            </a:r>
            <a:endParaRPr sz="8400" dirty="0"/>
          </a:p>
        </p:txBody>
      </p:sp>
      <p:sp>
        <p:nvSpPr>
          <p:cNvPr id="1143880378" name="object 7"/>
          <p:cNvSpPr txBox="1"/>
          <p:nvPr/>
        </p:nvSpPr>
        <p:spPr bwMode="auto">
          <a:xfrm>
            <a:off x="1666607" y="4926849"/>
            <a:ext cx="6841069" cy="164824"/>
          </a:xfrm>
          <a:prstGeom prst="rect">
            <a:avLst/>
          </a:prstGeom>
        </p:spPr>
        <p:txBody>
          <a:bodyPr vert="horz" wrap="square" lIns="0" tIns="12065" rIns="0" bIns="0" rtlCol="0">
            <a:spAutoFit/>
          </a:bodyPr>
          <a:lstStyle/>
          <a:p>
            <a:pPr>
              <a:defRPr/>
            </a:pPr>
            <a:r>
              <a:rPr lang="es-ES"/>
              <a:t>kbihbih</a:t>
            </a:r>
            <a:endParaRPr/>
          </a:p>
        </p:txBody>
      </p:sp>
      <p:sp>
        <p:nvSpPr>
          <p:cNvPr id="1859957140" name="CuadroTexto 1859957139"/>
          <p:cNvSpPr txBox="1"/>
          <p:nvPr/>
        </p:nvSpPr>
        <p:spPr bwMode="auto">
          <a:xfrm>
            <a:off x="7146542" y="5021579"/>
            <a:ext cx="3994913" cy="2438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Actividad 2.3 Banco de ejercicios__EddiCastillo_6ISCM-comprimido (1) (1)</a:t>
            </a:r>
          </a:p>
        </p:txBody>
      </p:sp>
      <p:sp>
        <p:nvSpPr>
          <p:cNvPr id="3" name="CuadroTexto 2">
            <a:extLst>
              <a:ext uri="{FF2B5EF4-FFF2-40B4-BE49-F238E27FC236}">
                <a16:creationId xmlns:a16="http://schemas.microsoft.com/office/drawing/2014/main" id="{2EEF3DEF-2600-914F-DF8F-BC3EDD0C12A2}"/>
              </a:ext>
            </a:extLst>
          </p:cNvPr>
          <p:cNvSpPr txBox="1"/>
          <p:nvPr/>
        </p:nvSpPr>
        <p:spPr>
          <a:xfrm>
            <a:off x="1024149" y="3160082"/>
            <a:ext cx="9261986" cy="3046988"/>
          </a:xfrm>
          <a:prstGeom prst="rect">
            <a:avLst/>
          </a:prstGeom>
          <a:noFill/>
        </p:spPr>
        <p:txBody>
          <a:bodyPr wrap="square">
            <a:spAutoFit/>
          </a:bodyPr>
          <a:lstStyle/>
          <a:p>
            <a:r>
              <a:rPr lang="es-ES" sz="2400" dirty="0">
                <a:solidFill>
                  <a:schemeClr val="bg1"/>
                </a:solidFill>
              </a:rPr>
              <a:t>En esta actividad se realizó un banco de ejercicios con la finalidad de comprobar el funcionamiento de una aplicación </a:t>
            </a:r>
            <a:r>
              <a:rPr lang="es-ES" sz="2400" dirty="0" err="1">
                <a:solidFill>
                  <a:schemeClr val="bg1"/>
                </a:solidFill>
              </a:rPr>
              <a:t>frontend</a:t>
            </a:r>
            <a:r>
              <a:rPr lang="es-ES" sz="2400" dirty="0">
                <a:solidFill>
                  <a:schemeClr val="bg1"/>
                </a:solidFill>
              </a:rPr>
              <a:t> desarrollada en Angular, conectada con un microservicio realizado en Spring </a:t>
            </a:r>
            <a:r>
              <a:rPr lang="es-ES" sz="2400" dirty="0" err="1">
                <a:solidFill>
                  <a:schemeClr val="bg1"/>
                </a:solidFill>
              </a:rPr>
              <a:t>Boot</a:t>
            </a:r>
            <a:r>
              <a:rPr lang="es-ES" sz="2400" dirty="0">
                <a:solidFill>
                  <a:schemeClr val="bg1"/>
                </a:solidFill>
              </a:rPr>
              <a:t> y una base de datos PostgreSQL. A través de estos ejercicios se buscó verificar que el sistema pudiera realizar correctamente las principales operaciones sobre los registros de estudiantes, como visualizar, buscar, registrar, editar y eliminar información.</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pic>
        <p:nvPicPr>
          <p:cNvPr id="1618637018" name="object 2"/>
          <p:cNvPicPr/>
          <p:nvPr/>
        </p:nvPicPr>
        <p:blipFill rotWithShape="1">
          <a:blip r:embed="rId3"/>
          <a:stretch/>
        </p:blipFill>
        <p:spPr bwMode="auto">
          <a:xfrm>
            <a:off x="0" y="0"/>
            <a:ext cx="18288000" cy="10287000"/>
          </a:xfrm>
          <a:prstGeom prst="rect">
            <a:avLst/>
          </a:prstGeom>
        </p:spPr>
      </p:pic>
      <p:pic>
        <p:nvPicPr>
          <p:cNvPr id="1343289801" name="object 3"/>
          <p:cNvPicPr/>
          <p:nvPr/>
        </p:nvPicPr>
        <p:blipFill rotWithShape="1">
          <a:blip r:embed="rId4"/>
          <a:stretch/>
        </p:blipFill>
        <p:spPr bwMode="auto">
          <a:xfrm>
            <a:off x="10217454" y="2075217"/>
            <a:ext cx="6579146" cy="6579146"/>
          </a:xfrm>
          <a:prstGeom prst="rect">
            <a:avLst/>
          </a:prstGeom>
        </p:spPr>
      </p:pic>
      <p:pic>
        <p:nvPicPr>
          <p:cNvPr id="820845946" name="object 4"/>
          <p:cNvPicPr/>
          <p:nvPr/>
        </p:nvPicPr>
        <p:blipFill rotWithShape="1">
          <a:blip r:embed="rId5"/>
          <a:stretch/>
        </p:blipFill>
        <p:spPr bwMode="auto">
          <a:xfrm>
            <a:off x="0" y="8710282"/>
            <a:ext cx="3608796" cy="920165"/>
          </a:xfrm>
          <a:prstGeom prst="rect">
            <a:avLst/>
          </a:prstGeom>
        </p:spPr>
      </p:pic>
      <p:pic>
        <p:nvPicPr>
          <p:cNvPr id="101900535" name="object 5"/>
          <p:cNvPicPr/>
          <p:nvPr/>
        </p:nvPicPr>
        <p:blipFill rotWithShape="1">
          <a:blip r:embed="rId6"/>
          <a:stretch/>
        </p:blipFill>
        <p:spPr bwMode="auto">
          <a:xfrm>
            <a:off x="13401929" y="0"/>
            <a:ext cx="3857421" cy="617938"/>
          </a:xfrm>
          <a:prstGeom prst="rect">
            <a:avLst/>
          </a:prstGeom>
        </p:spPr>
      </p:pic>
      <p:sp>
        <p:nvSpPr>
          <p:cNvPr id="613112491" name="object 6"/>
          <p:cNvSpPr txBox="1">
            <a:spLocks noGrp="1"/>
          </p:cNvSpPr>
          <p:nvPr>
            <p:ph type="title"/>
          </p:nvPr>
        </p:nvSpPr>
        <p:spPr bwMode="auto">
          <a:xfrm>
            <a:off x="1066800" y="804127"/>
            <a:ext cx="8456295" cy="1305560"/>
          </a:xfrm>
          <a:prstGeom prst="rect">
            <a:avLst/>
          </a:prstGeom>
        </p:spPr>
        <p:txBody>
          <a:bodyPr vert="horz" wrap="square" lIns="0" tIns="12700" rIns="0" bIns="0" rtlCol="0">
            <a:spAutoFit/>
          </a:bodyPr>
          <a:lstStyle/>
          <a:p>
            <a:pPr marL="12700">
              <a:lnSpc>
                <a:spcPct val="100000"/>
              </a:lnSpc>
              <a:spcBef>
                <a:spcPts val="100"/>
              </a:spcBef>
              <a:defRPr/>
            </a:pPr>
            <a:r>
              <a:rPr sz="8400" spc="200" dirty="0"/>
              <a:t>JUSTIFICACION</a:t>
            </a:r>
            <a:endParaRPr sz="8400" dirty="0"/>
          </a:p>
        </p:txBody>
      </p:sp>
      <p:sp>
        <p:nvSpPr>
          <p:cNvPr id="1661579641" name="object 7"/>
          <p:cNvSpPr txBox="1"/>
          <p:nvPr/>
        </p:nvSpPr>
        <p:spPr bwMode="auto">
          <a:xfrm>
            <a:off x="1666607" y="4939905"/>
            <a:ext cx="6689304" cy="287379"/>
          </a:xfrm>
          <a:prstGeom prst="rect">
            <a:avLst/>
          </a:prstGeom>
        </p:spPr>
        <p:txBody>
          <a:bodyPr vert="horz" wrap="square" lIns="0" tIns="12700" rIns="0" bIns="0" rtlCol="0">
            <a:spAutoFit/>
          </a:bodyPr>
          <a:lstStyle/>
          <a:p>
            <a:pPr>
              <a:defRPr/>
            </a:pPr>
            <a:r>
              <a:rPr lang="es-ES" sz="1800"/>
              <a:t>khvgv</a:t>
            </a:r>
            <a:endParaRPr sz="1800"/>
          </a:p>
        </p:txBody>
      </p:sp>
      <p:sp>
        <p:nvSpPr>
          <p:cNvPr id="3" name="CuadroTexto 2">
            <a:extLst>
              <a:ext uri="{FF2B5EF4-FFF2-40B4-BE49-F238E27FC236}">
                <a16:creationId xmlns:a16="http://schemas.microsoft.com/office/drawing/2014/main" id="{4DFF785A-B319-4399-9602-B368BCAEB6D8}"/>
              </a:ext>
            </a:extLst>
          </p:cNvPr>
          <p:cNvSpPr txBox="1"/>
          <p:nvPr/>
        </p:nvSpPr>
        <p:spPr>
          <a:xfrm>
            <a:off x="838200" y="2450390"/>
            <a:ext cx="9677400" cy="8279190"/>
          </a:xfrm>
          <a:prstGeom prst="rect">
            <a:avLst/>
          </a:prstGeom>
          <a:noFill/>
        </p:spPr>
        <p:txBody>
          <a:bodyPr wrap="square">
            <a:spAutoFit/>
          </a:bodyPr>
          <a:lstStyle/>
          <a:p>
            <a:r>
              <a:rPr lang="es-ES" sz="2800" dirty="0">
                <a:solidFill>
                  <a:schemeClr val="bg1"/>
                </a:solidFill>
              </a:rPr>
              <a:t>Este banco de ejercicios se justifica porque permite validar el correcto funcionamiento de la aplicación web desarrollada, ya que mediante cada ejercicio se comprueba una parte importante del sistema. Al realizar pruebas como la visualización de estudiantes, la búsqueda, el registro, la edición y la eliminación de datos, se puede confirmar que la aplicación cumple con las funciones necesarias para administrar la información de los estudiantes.</a:t>
            </a:r>
          </a:p>
          <a:p>
            <a:r>
              <a:rPr lang="es-ES" sz="2800" dirty="0">
                <a:solidFill>
                  <a:schemeClr val="bg1"/>
                </a:solidFill>
              </a:rPr>
              <a:t>Además, esta actividad ayuda a reforzar el uso de Angular como herramienta para crear interfaces web dinámicas, así como la integración con un </a:t>
            </a:r>
            <a:r>
              <a:rPr lang="es-ES" sz="2800" dirty="0" err="1">
                <a:solidFill>
                  <a:schemeClr val="bg1"/>
                </a:solidFill>
              </a:rPr>
              <a:t>backend</a:t>
            </a:r>
            <a:r>
              <a:rPr lang="es-ES" sz="2800" dirty="0">
                <a:solidFill>
                  <a:schemeClr val="bg1"/>
                </a:solidFill>
              </a:rPr>
              <a:t> desarrollado en Spring </a:t>
            </a:r>
            <a:r>
              <a:rPr lang="es-ES" sz="2800" dirty="0" err="1">
                <a:solidFill>
                  <a:schemeClr val="bg1"/>
                </a:solidFill>
              </a:rPr>
              <a:t>Boot</a:t>
            </a:r>
            <a:r>
              <a:rPr lang="es-ES" sz="2800" dirty="0">
                <a:solidFill>
                  <a:schemeClr val="bg1"/>
                </a:solidFill>
              </a:rPr>
              <a:t>. También permite observar la importancia de conectar correctamente una aplicación con una base de datos, ya que de esta manera los datos pueden guardarse, modificarse y consultarse de forma organizada. Por ello, este trabajo es importante para comprender cómo se estructura una aplicación completa y funcional.</a:t>
            </a:r>
          </a:p>
          <a:p>
            <a:br>
              <a:rPr lang="es-ES" sz="2800" dirty="0"/>
            </a:br>
            <a:endParaRPr lang="es-MX" sz="28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9769793" name="object 2"/>
          <p:cNvSpPr txBox="1">
            <a:spLocks noGrp="1"/>
          </p:cNvSpPr>
          <p:nvPr>
            <p:ph type="title"/>
          </p:nvPr>
        </p:nvSpPr>
        <p:spPr bwMode="auto">
          <a:xfrm>
            <a:off x="1212643" y="475121"/>
            <a:ext cx="11008874" cy="1243930"/>
          </a:xfrm>
          <a:prstGeom prst="rect">
            <a:avLst/>
          </a:prstGeom>
        </p:spPr>
        <p:txBody>
          <a:bodyPr vert="horz" wrap="square" lIns="0" tIns="12700" rIns="0" bIns="0" rtlCol="0">
            <a:spAutoFit/>
          </a:bodyPr>
          <a:lstStyle/>
          <a:p>
            <a:pPr>
              <a:defRPr/>
            </a:pPr>
            <a:r>
              <a:rPr lang="es-ES" sz="8000" dirty="0">
                <a:solidFill>
                  <a:schemeClr val="bg1"/>
                </a:solidFill>
              </a:rPr>
              <a:t>  </a:t>
            </a:r>
            <a:endParaRPr sz="8000" dirty="0">
              <a:solidFill>
                <a:schemeClr val="bg1"/>
              </a:solidFill>
            </a:endParaRPr>
          </a:p>
        </p:txBody>
      </p:sp>
      <p:sp>
        <p:nvSpPr>
          <p:cNvPr id="1935260451" name="object 3"/>
          <p:cNvSpPr txBox="1"/>
          <p:nvPr/>
        </p:nvSpPr>
        <p:spPr bwMode="auto">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defRPr/>
            </a:pPr>
            <a:r>
              <a:rPr sz="1800" spc="-25">
                <a:latin typeface="Calibri"/>
                <a:cs typeface="Calibri"/>
              </a:rPr>
              <a:t>03</a:t>
            </a:r>
            <a:endParaRPr sz="1800">
              <a:latin typeface="Calibri"/>
              <a:cs typeface="Calibri"/>
            </a:endParaRPr>
          </a:p>
        </p:txBody>
      </p:sp>
      <p:sp>
        <p:nvSpPr>
          <p:cNvPr id="1515271569" name="object 4"/>
          <p:cNvSpPr txBox="1"/>
          <p:nvPr/>
        </p:nvSpPr>
        <p:spPr bwMode="auto">
          <a:xfrm>
            <a:off x="1600200" y="499755"/>
            <a:ext cx="6474604" cy="1705723"/>
          </a:xfrm>
          <a:prstGeom prst="rect">
            <a:avLst/>
          </a:prstGeom>
        </p:spPr>
        <p:txBody>
          <a:bodyPr vert="horz" wrap="square" lIns="0" tIns="12700" rIns="0" bIns="0" rtlCol="0">
            <a:spAutoFit/>
          </a:bodyPr>
          <a:lstStyle/>
          <a:p>
            <a:r>
              <a:rPr lang="es-ES" sz="2400" b="1" dirty="0">
                <a:solidFill>
                  <a:schemeClr val="bg1"/>
                </a:solidFill>
              </a:rPr>
              <a:t>Ejercicio 1: Visualización de la lista de estudiantes</a:t>
            </a:r>
          </a:p>
          <a:p>
            <a:pPr marL="228600">
              <a:lnSpc>
                <a:spcPct val="115000"/>
              </a:lnSpc>
              <a:spcBef>
                <a:spcPts val="200"/>
              </a:spcBef>
              <a:spcAft>
                <a:spcPts val="400"/>
              </a:spcAft>
            </a:pPr>
            <a:r>
              <a:rPr lang="es-ES" b="1" dirty="0">
                <a:solidFill>
                  <a:schemeClr val="bg1"/>
                </a:solidFill>
              </a:rPr>
              <a:t>Objetivo:</a:t>
            </a:r>
            <a:br>
              <a:rPr lang="es-ES" dirty="0">
                <a:solidFill>
                  <a:schemeClr val="bg1"/>
                </a:solidFill>
              </a:rPr>
            </a:br>
            <a:r>
              <a:rPr lang="es-ES" dirty="0">
                <a:solidFill>
                  <a:schemeClr val="bg1"/>
                </a:solidFill>
              </a:rPr>
              <a:t>Comprobar que la aplicación Angular cargue correctamente la información de los estudiantes registrados en el sistema.</a:t>
            </a:r>
            <a:endParaRPr lang="es-MX" dirty="0">
              <a:solidFill>
                <a:schemeClr val="bg1"/>
              </a:solidFill>
              <a:latin typeface="Arial" panose="020B0604020202020204" pitchFamily="34" charset="0"/>
              <a:ea typeface="Arial" panose="020B0604020202020204" pitchFamily="34" charset="0"/>
            </a:endParaRPr>
          </a:p>
        </p:txBody>
      </p:sp>
      <p:sp>
        <p:nvSpPr>
          <p:cNvPr id="205095173" name="object 5"/>
          <p:cNvSpPr txBox="1"/>
          <p:nvPr/>
        </p:nvSpPr>
        <p:spPr bwMode="auto">
          <a:xfrm>
            <a:off x="4197155" y="9787924"/>
            <a:ext cx="8828469" cy="287379"/>
          </a:xfrm>
          <a:prstGeom prst="rect">
            <a:avLst/>
          </a:prstGeom>
        </p:spPr>
        <p:txBody>
          <a:bodyPr vert="horz" wrap="square" lIns="0" tIns="12700" rIns="0" bIns="0" rtlCol="0">
            <a:spAutoFit/>
          </a:bodyPr>
          <a:lstStyle/>
          <a:p>
            <a:pPr>
              <a:defRPr/>
            </a:pPr>
            <a:endParaRPr sz="1800">
              <a:solidFill>
                <a:schemeClr val="bg1"/>
              </a:solidFill>
            </a:endParaRPr>
          </a:p>
        </p:txBody>
      </p:sp>
      <p:sp>
        <p:nvSpPr>
          <p:cNvPr id="1927622888" name=" 1927622887"/>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sp>
        <p:nvSpPr>
          <p:cNvPr id="2" name="AutoShape 2">
            <a:extLst>
              <a:ext uri="{FF2B5EF4-FFF2-40B4-BE49-F238E27FC236}">
                <a16:creationId xmlns:a16="http://schemas.microsoft.com/office/drawing/2014/main" id="{F96AE22B-30A3-3C3E-81D1-0B8AF6A7913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4" name="CuadroTexto 3">
            <a:extLst>
              <a:ext uri="{FF2B5EF4-FFF2-40B4-BE49-F238E27FC236}">
                <a16:creationId xmlns:a16="http://schemas.microsoft.com/office/drawing/2014/main" id="{2B13947D-C0C7-BA00-8F5E-28B8DB90FA63}"/>
              </a:ext>
            </a:extLst>
          </p:cNvPr>
          <p:cNvSpPr txBox="1"/>
          <p:nvPr/>
        </p:nvSpPr>
        <p:spPr>
          <a:xfrm>
            <a:off x="3335950" y="8267700"/>
            <a:ext cx="11008873" cy="923330"/>
          </a:xfrm>
          <a:prstGeom prst="rect">
            <a:avLst/>
          </a:prstGeom>
          <a:noFill/>
        </p:spPr>
        <p:txBody>
          <a:bodyPr wrap="square">
            <a:spAutoFit/>
          </a:bodyPr>
          <a:lstStyle/>
          <a:p>
            <a:r>
              <a:rPr lang="es-ES" b="1" dirty="0">
                <a:solidFill>
                  <a:schemeClr val="bg1"/>
                </a:solidFill>
              </a:rPr>
              <a:t>Resultado esperado:</a:t>
            </a:r>
            <a:br>
              <a:rPr lang="es-ES" dirty="0">
                <a:solidFill>
                  <a:schemeClr val="bg1"/>
                </a:solidFill>
              </a:rPr>
            </a:br>
            <a:r>
              <a:rPr lang="es-ES" dirty="0">
                <a:solidFill>
                  <a:schemeClr val="bg1"/>
                </a:solidFill>
              </a:rPr>
              <a:t>La aplicación debe mostrar correctamente la lista de estudiantes registrados. Esto permite comprobar que el </a:t>
            </a:r>
            <a:r>
              <a:rPr lang="es-ES" dirty="0" err="1">
                <a:solidFill>
                  <a:schemeClr val="bg1"/>
                </a:solidFill>
              </a:rPr>
              <a:t>frontend</a:t>
            </a:r>
            <a:r>
              <a:rPr lang="es-ES" dirty="0">
                <a:solidFill>
                  <a:schemeClr val="bg1"/>
                </a:solidFill>
              </a:rPr>
              <a:t> está funcionando y que existe comunicación con el </a:t>
            </a:r>
            <a:r>
              <a:rPr lang="es-ES" dirty="0" err="1">
                <a:solidFill>
                  <a:schemeClr val="bg1"/>
                </a:solidFill>
              </a:rPr>
              <a:t>backend</a:t>
            </a:r>
            <a:r>
              <a:rPr lang="es-ES" dirty="0">
                <a:solidFill>
                  <a:schemeClr val="bg1"/>
                </a:solidFill>
              </a:rPr>
              <a:t> y la base de datos.</a:t>
            </a:r>
            <a:endParaRPr lang="es-MX" dirty="0">
              <a:solidFill>
                <a:schemeClr val="bg1"/>
              </a:solidFill>
            </a:endParaRPr>
          </a:p>
        </p:txBody>
      </p:sp>
      <p:pic>
        <p:nvPicPr>
          <p:cNvPr id="6" name="Imagen 5">
            <a:extLst>
              <a:ext uri="{FF2B5EF4-FFF2-40B4-BE49-F238E27FC236}">
                <a16:creationId xmlns:a16="http://schemas.microsoft.com/office/drawing/2014/main" id="{598303F8-8132-3839-4200-0E549251851D}"/>
              </a:ext>
            </a:extLst>
          </p:cNvPr>
          <p:cNvPicPr>
            <a:picLocks noChangeAspect="1"/>
          </p:cNvPicPr>
          <p:nvPr/>
        </p:nvPicPr>
        <p:blipFill>
          <a:blip r:embed="rId3"/>
          <a:stretch>
            <a:fillRect/>
          </a:stretch>
        </p:blipFill>
        <p:spPr>
          <a:xfrm>
            <a:off x="2403514" y="2479040"/>
            <a:ext cx="11008873" cy="549021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9769793" name="object 2"/>
          <p:cNvSpPr txBox="1">
            <a:spLocks noGrp="1"/>
          </p:cNvSpPr>
          <p:nvPr>
            <p:ph type="title"/>
          </p:nvPr>
        </p:nvSpPr>
        <p:spPr bwMode="auto">
          <a:xfrm>
            <a:off x="1212643" y="475121"/>
            <a:ext cx="11008874" cy="1243930"/>
          </a:xfrm>
          <a:prstGeom prst="rect">
            <a:avLst/>
          </a:prstGeom>
        </p:spPr>
        <p:txBody>
          <a:bodyPr vert="horz" wrap="square" lIns="0" tIns="12700" rIns="0" bIns="0" rtlCol="0">
            <a:spAutoFit/>
          </a:bodyPr>
          <a:lstStyle/>
          <a:p>
            <a:pPr>
              <a:defRPr/>
            </a:pPr>
            <a:r>
              <a:rPr lang="es-ES" sz="8000" dirty="0">
                <a:solidFill>
                  <a:schemeClr val="bg1"/>
                </a:solidFill>
              </a:rPr>
              <a:t>  </a:t>
            </a:r>
            <a:endParaRPr sz="8000" dirty="0">
              <a:solidFill>
                <a:schemeClr val="bg1"/>
              </a:solidFill>
            </a:endParaRPr>
          </a:p>
        </p:txBody>
      </p:sp>
      <p:sp>
        <p:nvSpPr>
          <p:cNvPr id="1935260451" name="object 3"/>
          <p:cNvSpPr txBox="1"/>
          <p:nvPr/>
        </p:nvSpPr>
        <p:spPr bwMode="auto">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defRPr/>
            </a:pPr>
            <a:r>
              <a:rPr sz="1800" spc="-25">
                <a:latin typeface="Calibri"/>
                <a:cs typeface="Calibri"/>
              </a:rPr>
              <a:t>03</a:t>
            </a:r>
            <a:endParaRPr sz="1800">
              <a:latin typeface="Calibri"/>
              <a:cs typeface="Calibri"/>
            </a:endParaRPr>
          </a:p>
        </p:txBody>
      </p:sp>
      <p:sp>
        <p:nvSpPr>
          <p:cNvPr id="1515271569" name="object 4"/>
          <p:cNvSpPr txBox="1"/>
          <p:nvPr/>
        </p:nvSpPr>
        <p:spPr bwMode="auto">
          <a:xfrm>
            <a:off x="1600200" y="499755"/>
            <a:ext cx="6474604" cy="1619098"/>
          </a:xfrm>
          <a:prstGeom prst="rect">
            <a:avLst/>
          </a:prstGeom>
        </p:spPr>
        <p:txBody>
          <a:bodyPr vert="horz" wrap="square" lIns="0" tIns="12700" rIns="0" bIns="0" rtlCol="0">
            <a:spAutoFit/>
          </a:bodyPr>
          <a:lstStyle/>
          <a:p>
            <a:r>
              <a:rPr lang="es-ES" sz="2400" dirty="0">
                <a:solidFill>
                  <a:schemeClr val="bg1"/>
                </a:solidFill>
              </a:rPr>
              <a:t>Ejercicio 2: Búsqueda de estudiantes</a:t>
            </a:r>
          </a:p>
          <a:p>
            <a:endParaRPr lang="es-ES" sz="2400" b="1" dirty="0">
              <a:solidFill>
                <a:schemeClr val="bg1"/>
              </a:solidFill>
            </a:endParaRPr>
          </a:p>
          <a:p>
            <a:pPr>
              <a:lnSpc>
                <a:spcPct val="107000"/>
              </a:lnSpc>
              <a:spcAft>
                <a:spcPts val="600"/>
              </a:spcAft>
            </a:pPr>
            <a:r>
              <a:rPr lang="es-ES" b="1" dirty="0">
                <a:solidFill>
                  <a:schemeClr val="bg1"/>
                </a:solidFill>
              </a:rPr>
              <a:t>Objetivo:</a:t>
            </a:r>
            <a:br>
              <a:rPr lang="es-ES" dirty="0">
                <a:solidFill>
                  <a:schemeClr val="bg1"/>
                </a:solidFill>
              </a:rPr>
            </a:br>
            <a:r>
              <a:rPr lang="es-ES" dirty="0">
                <a:solidFill>
                  <a:schemeClr val="bg1"/>
                </a:solidFill>
              </a:rPr>
              <a:t>Verificar que el sistema permita buscar estudiantes de manera rápida dentro de la tabla.</a:t>
            </a:r>
            <a:endParaRPr lang="es-MX" dirty="0">
              <a:solidFill>
                <a:schemeClr val="bg1"/>
              </a:solidFill>
              <a:latin typeface="Arial" panose="020B0604020202020204" pitchFamily="34" charset="0"/>
              <a:ea typeface="Arial" panose="020B0604020202020204" pitchFamily="34" charset="0"/>
            </a:endParaRPr>
          </a:p>
        </p:txBody>
      </p:sp>
      <p:sp>
        <p:nvSpPr>
          <p:cNvPr id="205095173" name="object 5"/>
          <p:cNvSpPr txBox="1"/>
          <p:nvPr/>
        </p:nvSpPr>
        <p:spPr bwMode="auto">
          <a:xfrm>
            <a:off x="4197155" y="9787924"/>
            <a:ext cx="8828469" cy="287379"/>
          </a:xfrm>
          <a:prstGeom prst="rect">
            <a:avLst/>
          </a:prstGeom>
        </p:spPr>
        <p:txBody>
          <a:bodyPr vert="horz" wrap="square" lIns="0" tIns="12700" rIns="0" bIns="0" rtlCol="0">
            <a:spAutoFit/>
          </a:bodyPr>
          <a:lstStyle/>
          <a:p>
            <a:pPr>
              <a:defRPr/>
            </a:pPr>
            <a:endParaRPr sz="1800">
              <a:solidFill>
                <a:schemeClr val="bg1"/>
              </a:solidFill>
            </a:endParaRPr>
          </a:p>
        </p:txBody>
      </p:sp>
      <p:sp>
        <p:nvSpPr>
          <p:cNvPr id="1927622888" name=" 1927622887"/>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sp>
        <p:nvSpPr>
          <p:cNvPr id="4" name="CuadroTexto 3">
            <a:extLst>
              <a:ext uri="{FF2B5EF4-FFF2-40B4-BE49-F238E27FC236}">
                <a16:creationId xmlns:a16="http://schemas.microsoft.com/office/drawing/2014/main" id="{123D20A0-B128-3A45-57CF-578D7E469E5B}"/>
              </a:ext>
            </a:extLst>
          </p:cNvPr>
          <p:cNvSpPr txBox="1"/>
          <p:nvPr/>
        </p:nvSpPr>
        <p:spPr>
          <a:xfrm>
            <a:off x="9796121" y="737968"/>
            <a:ext cx="7238206" cy="367216"/>
          </a:xfrm>
          <a:prstGeom prst="rect">
            <a:avLst/>
          </a:prstGeom>
          <a:noFill/>
        </p:spPr>
        <p:txBody>
          <a:bodyPr wrap="square">
            <a:spAutoFit/>
          </a:bodyPr>
          <a:lstStyle/>
          <a:p>
            <a:pPr>
              <a:lnSpc>
                <a:spcPct val="107000"/>
              </a:lnSpc>
              <a:spcAft>
                <a:spcPts val="600"/>
              </a:spcAft>
            </a:pPr>
            <a:endParaRPr lang="es-MX"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F2BA7500-0AB9-A0D2-462E-18827A9B0FC6}"/>
              </a:ext>
            </a:extLst>
          </p:cNvPr>
          <p:cNvSpPr txBox="1"/>
          <p:nvPr/>
        </p:nvSpPr>
        <p:spPr>
          <a:xfrm>
            <a:off x="3733800" y="8206228"/>
            <a:ext cx="10439400" cy="1200329"/>
          </a:xfrm>
          <a:prstGeom prst="rect">
            <a:avLst/>
          </a:prstGeom>
          <a:noFill/>
        </p:spPr>
        <p:txBody>
          <a:bodyPr wrap="square">
            <a:spAutoFit/>
          </a:bodyPr>
          <a:lstStyle/>
          <a:p>
            <a:r>
              <a:rPr lang="es-ES" b="1" dirty="0">
                <a:solidFill>
                  <a:schemeClr val="bg1"/>
                </a:solidFill>
              </a:rPr>
              <a:t>Resultado esperado:</a:t>
            </a:r>
            <a:br>
              <a:rPr lang="es-ES" dirty="0">
                <a:solidFill>
                  <a:schemeClr val="bg1"/>
                </a:solidFill>
              </a:rPr>
            </a:br>
            <a:r>
              <a:rPr lang="es-ES" dirty="0">
                <a:solidFill>
                  <a:schemeClr val="bg1"/>
                </a:solidFill>
              </a:rPr>
              <a:t>El sistema debe filtrar correctamente la información y mostrar únicamente los estudiantes relacionados con el texto ingresado. Esta función facilita encontrar registros sin necesidad de revisar toda la tabla manualmente.</a:t>
            </a:r>
            <a:endParaRPr lang="es-MX" dirty="0">
              <a:solidFill>
                <a:schemeClr val="bg1"/>
              </a:solidFill>
            </a:endParaRPr>
          </a:p>
        </p:txBody>
      </p:sp>
      <p:pic>
        <p:nvPicPr>
          <p:cNvPr id="7" name="Imagen 6">
            <a:extLst>
              <a:ext uri="{FF2B5EF4-FFF2-40B4-BE49-F238E27FC236}">
                <a16:creationId xmlns:a16="http://schemas.microsoft.com/office/drawing/2014/main" id="{46C2038C-B5CA-7D2B-2F76-961903F2DB0C}"/>
              </a:ext>
            </a:extLst>
          </p:cNvPr>
          <p:cNvPicPr>
            <a:picLocks noChangeAspect="1"/>
          </p:cNvPicPr>
          <p:nvPr/>
        </p:nvPicPr>
        <p:blipFill>
          <a:blip r:embed="rId3"/>
          <a:stretch>
            <a:fillRect/>
          </a:stretch>
        </p:blipFill>
        <p:spPr>
          <a:xfrm>
            <a:off x="2169595" y="2547230"/>
            <a:ext cx="10833906" cy="5444685"/>
          </a:xfrm>
          <a:prstGeom prst="rect">
            <a:avLst/>
          </a:prstGeom>
        </p:spPr>
      </p:pic>
    </p:spTree>
    <p:extLst>
      <p:ext uri="{BB962C8B-B14F-4D97-AF65-F5344CB8AC3E}">
        <p14:creationId xmlns:p14="http://schemas.microsoft.com/office/powerpoint/2010/main" val="26932919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9769793" name="object 2"/>
          <p:cNvSpPr txBox="1">
            <a:spLocks noGrp="1"/>
          </p:cNvSpPr>
          <p:nvPr>
            <p:ph type="title"/>
          </p:nvPr>
        </p:nvSpPr>
        <p:spPr bwMode="auto">
          <a:xfrm>
            <a:off x="1212643" y="475121"/>
            <a:ext cx="11008874" cy="1243930"/>
          </a:xfrm>
          <a:prstGeom prst="rect">
            <a:avLst/>
          </a:prstGeom>
        </p:spPr>
        <p:txBody>
          <a:bodyPr vert="horz" wrap="square" lIns="0" tIns="12700" rIns="0" bIns="0" rtlCol="0">
            <a:spAutoFit/>
          </a:bodyPr>
          <a:lstStyle/>
          <a:p>
            <a:pPr>
              <a:defRPr/>
            </a:pPr>
            <a:r>
              <a:rPr lang="es-ES" sz="8000" dirty="0">
                <a:solidFill>
                  <a:schemeClr val="bg1"/>
                </a:solidFill>
              </a:rPr>
              <a:t>  </a:t>
            </a:r>
            <a:endParaRPr sz="8000" dirty="0">
              <a:solidFill>
                <a:schemeClr val="bg1"/>
              </a:solidFill>
            </a:endParaRPr>
          </a:p>
        </p:txBody>
      </p:sp>
      <p:sp>
        <p:nvSpPr>
          <p:cNvPr id="1935260451" name="object 3"/>
          <p:cNvSpPr txBox="1"/>
          <p:nvPr/>
        </p:nvSpPr>
        <p:spPr bwMode="auto">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defRPr/>
            </a:pPr>
            <a:r>
              <a:rPr sz="1800" spc="-25">
                <a:latin typeface="Calibri"/>
                <a:cs typeface="Calibri"/>
              </a:rPr>
              <a:t>03</a:t>
            </a:r>
            <a:endParaRPr sz="1800">
              <a:latin typeface="Calibri"/>
              <a:cs typeface="Calibri"/>
            </a:endParaRPr>
          </a:p>
        </p:txBody>
      </p:sp>
      <p:sp>
        <p:nvSpPr>
          <p:cNvPr id="1515271569" name="object 4"/>
          <p:cNvSpPr txBox="1"/>
          <p:nvPr/>
        </p:nvSpPr>
        <p:spPr bwMode="auto">
          <a:xfrm>
            <a:off x="1499030" y="237507"/>
            <a:ext cx="12216969" cy="979242"/>
          </a:xfrm>
          <a:prstGeom prst="rect">
            <a:avLst/>
          </a:prstGeom>
        </p:spPr>
        <p:txBody>
          <a:bodyPr vert="horz" wrap="square" lIns="0" tIns="12700" rIns="0" bIns="0" rtlCol="0">
            <a:spAutoFit/>
          </a:bodyPr>
          <a:lstStyle/>
          <a:p>
            <a:pPr>
              <a:lnSpc>
                <a:spcPct val="107000"/>
              </a:lnSpc>
              <a:spcBef>
                <a:spcPts val="1000"/>
              </a:spcBef>
            </a:pPr>
            <a:r>
              <a:rPr lang="es-ES" sz="2400" dirty="0">
                <a:solidFill>
                  <a:schemeClr val="bg1"/>
                </a:solidFill>
              </a:rPr>
              <a:t>Ejercicio 3: Registro de un nuevo estudiante</a:t>
            </a:r>
            <a:endParaRPr lang="es-MX" sz="1800" b="1" dirty="0">
              <a:solidFill>
                <a:schemeClr val="bg1"/>
              </a:solidFill>
              <a:effectLst/>
              <a:latin typeface="Arial" panose="020B0604020202020204" pitchFamily="34" charset="0"/>
              <a:ea typeface="MS Gothic" panose="020B0609070205080204" pitchFamily="49" charset="-128"/>
              <a:cs typeface="Arial" panose="020B0604020202020204" pitchFamily="34" charset="0"/>
            </a:endParaRPr>
          </a:p>
          <a:p>
            <a:pPr>
              <a:lnSpc>
                <a:spcPct val="107000"/>
              </a:lnSpc>
              <a:spcAft>
                <a:spcPts val="600"/>
              </a:spcAft>
            </a:pPr>
            <a:r>
              <a:rPr lang="es-ES" b="1" dirty="0">
                <a:solidFill>
                  <a:schemeClr val="bg1"/>
                </a:solidFill>
              </a:rPr>
              <a:t>Objetivo:</a:t>
            </a:r>
            <a:br>
              <a:rPr lang="es-ES" dirty="0">
                <a:solidFill>
                  <a:schemeClr val="bg1"/>
                </a:solidFill>
              </a:rPr>
            </a:br>
            <a:r>
              <a:rPr lang="es-ES" dirty="0">
                <a:solidFill>
                  <a:schemeClr val="bg1"/>
                </a:solidFill>
              </a:rPr>
              <a:t>Comprobar que la aplicación permita agregar nuevos estudiantes desde la interfaz web.</a:t>
            </a:r>
            <a:endParaRPr lang="es-MX" dirty="0">
              <a:solidFill>
                <a:schemeClr val="bg1"/>
              </a:solidFill>
              <a:latin typeface="Arial" panose="020B0604020202020204" pitchFamily="34" charset="0"/>
              <a:ea typeface="Arial" panose="020B0604020202020204" pitchFamily="34" charset="0"/>
            </a:endParaRPr>
          </a:p>
        </p:txBody>
      </p:sp>
      <p:sp>
        <p:nvSpPr>
          <p:cNvPr id="205095173" name="object 5"/>
          <p:cNvSpPr txBox="1"/>
          <p:nvPr/>
        </p:nvSpPr>
        <p:spPr bwMode="auto">
          <a:xfrm>
            <a:off x="4197155" y="9787924"/>
            <a:ext cx="8828469" cy="287379"/>
          </a:xfrm>
          <a:prstGeom prst="rect">
            <a:avLst/>
          </a:prstGeom>
        </p:spPr>
        <p:txBody>
          <a:bodyPr vert="horz" wrap="square" lIns="0" tIns="12700" rIns="0" bIns="0" rtlCol="0">
            <a:spAutoFit/>
          </a:bodyPr>
          <a:lstStyle/>
          <a:p>
            <a:pPr>
              <a:defRPr/>
            </a:pPr>
            <a:endParaRPr sz="1800">
              <a:solidFill>
                <a:schemeClr val="bg1"/>
              </a:solidFill>
            </a:endParaRPr>
          </a:p>
        </p:txBody>
      </p:sp>
      <p:sp>
        <p:nvSpPr>
          <p:cNvPr id="1927622888" name=" 1927622887"/>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sp>
        <p:nvSpPr>
          <p:cNvPr id="4" name="CuadroTexto 3">
            <a:extLst>
              <a:ext uri="{FF2B5EF4-FFF2-40B4-BE49-F238E27FC236}">
                <a16:creationId xmlns:a16="http://schemas.microsoft.com/office/drawing/2014/main" id="{50EB737D-82A9-79F5-AE3B-738ABFC7E182}"/>
              </a:ext>
            </a:extLst>
          </p:cNvPr>
          <p:cNvSpPr txBox="1"/>
          <p:nvPr/>
        </p:nvSpPr>
        <p:spPr>
          <a:xfrm>
            <a:off x="4039388" y="7938522"/>
            <a:ext cx="9219411" cy="1200329"/>
          </a:xfrm>
          <a:prstGeom prst="rect">
            <a:avLst/>
          </a:prstGeom>
          <a:noFill/>
        </p:spPr>
        <p:txBody>
          <a:bodyPr wrap="square">
            <a:spAutoFit/>
          </a:bodyPr>
          <a:lstStyle/>
          <a:p>
            <a:r>
              <a:rPr lang="es-ES" b="1" dirty="0">
                <a:solidFill>
                  <a:schemeClr val="bg1"/>
                </a:solidFill>
              </a:rPr>
              <a:t>Resultado esperado:</a:t>
            </a:r>
            <a:br>
              <a:rPr lang="es-ES" dirty="0">
                <a:solidFill>
                  <a:schemeClr val="bg1"/>
                </a:solidFill>
              </a:rPr>
            </a:br>
            <a:r>
              <a:rPr lang="es-ES" dirty="0">
                <a:solidFill>
                  <a:schemeClr val="bg1"/>
                </a:solidFill>
              </a:rPr>
              <a:t>El nuevo estudiante debe agregarse correctamente y aparecer dentro de la tabla principal. Esto demuestra que la función de registro está conectada con el </a:t>
            </a:r>
            <a:r>
              <a:rPr lang="es-ES" dirty="0" err="1">
                <a:solidFill>
                  <a:schemeClr val="bg1"/>
                </a:solidFill>
              </a:rPr>
              <a:t>backend</a:t>
            </a:r>
            <a:r>
              <a:rPr lang="es-ES" dirty="0">
                <a:solidFill>
                  <a:schemeClr val="bg1"/>
                </a:solidFill>
              </a:rPr>
              <a:t> y permite guardar información en la base de datos.</a:t>
            </a:r>
            <a:endParaRPr lang="es-MX" dirty="0">
              <a:solidFill>
                <a:schemeClr val="bg1"/>
              </a:solidFill>
            </a:endParaRPr>
          </a:p>
        </p:txBody>
      </p:sp>
      <p:pic>
        <p:nvPicPr>
          <p:cNvPr id="6" name="Imagen 5">
            <a:extLst>
              <a:ext uri="{FF2B5EF4-FFF2-40B4-BE49-F238E27FC236}">
                <a16:creationId xmlns:a16="http://schemas.microsoft.com/office/drawing/2014/main" id="{B7EF91B1-9D34-61EB-E2B0-7BC2CC256719}"/>
              </a:ext>
            </a:extLst>
          </p:cNvPr>
          <p:cNvPicPr>
            <a:picLocks noChangeAspect="1"/>
          </p:cNvPicPr>
          <p:nvPr/>
        </p:nvPicPr>
        <p:blipFill>
          <a:blip r:embed="rId3"/>
          <a:stretch>
            <a:fillRect/>
          </a:stretch>
        </p:blipFill>
        <p:spPr>
          <a:xfrm>
            <a:off x="685800" y="2552700"/>
            <a:ext cx="9478658" cy="4579755"/>
          </a:xfrm>
          <a:prstGeom prst="rect">
            <a:avLst/>
          </a:prstGeom>
        </p:spPr>
      </p:pic>
      <p:pic>
        <p:nvPicPr>
          <p:cNvPr id="8" name="Imagen 7">
            <a:extLst>
              <a:ext uri="{FF2B5EF4-FFF2-40B4-BE49-F238E27FC236}">
                <a16:creationId xmlns:a16="http://schemas.microsoft.com/office/drawing/2014/main" id="{529B9724-F2EF-2B51-022A-D5A352D1E9FE}"/>
              </a:ext>
            </a:extLst>
          </p:cNvPr>
          <p:cNvPicPr>
            <a:picLocks noChangeAspect="1"/>
          </p:cNvPicPr>
          <p:nvPr/>
        </p:nvPicPr>
        <p:blipFill>
          <a:blip r:embed="rId4"/>
          <a:stretch>
            <a:fillRect/>
          </a:stretch>
        </p:blipFill>
        <p:spPr>
          <a:xfrm>
            <a:off x="10164458" y="2552700"/>
            <a:ext cx="8439566" cy="4345479"/>
          </a:xfrm>
          <a:prstGeom prst="rect">
            <a:avLst/>
          </a:prstGeom>
        </p:spPr>
      </p:pic>
    </p:spTree>
    <p:extLst>
      <p:ext uri="{BB962C8B-B14F-4D97-AF65-F5344CB8AC3E}">
        <p14:creationId xmlns:p14="http://schemas.microsoft.com/office/powerpoint/2010/main" val="233374934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9769793" name="object 2"/>
          <p:cNvSpPr txBox="1">
            <a:spLocks noGrp="1"/>
          </p:cNvSpPr>
          <p:nvPr>
            <p:ph type="title"/>
          </p:nvPr>
        </p:nvSpPr>
        <p:spPr bwMode="auto">
          <a:xfrm>
            <a:off x="1212643" y="475121"/>
            <a:ext cx="11008874" cy="1243930"/>
          </a:xfrm>
          <a:prstGeom prst="rect">
            <a:avLst/>
          </a:prstGeom>
        </p:spPr>
        <p:txBody>
          <a:bodyPr vert="horz" wrap="square" lIns="0" tIns="12700" rIns="0" bIns="0" rtlCol="0">
            <a:spAutoFit/>
          </a:bodyPr>
          <a:lstStyle/>
          <a:p>
            <a:pPr>
              <a:defRPr/>
            </a:pPr>
            <a:r>
              <a:rPr lang="es-ES" sz="8000" dirty="0">
                <a:solidFill>
                  <a:schemeClr val="bg1"/>
                </a:solidFill>
              </a:rPr>
              <a:t>  </a:t>
            </a:r>
            <a:endParaRPr sz="8000" dirty="0">
              <a:solidFill>
                <a:schemeClr val="bg1"/>
              </a:solidFill>
            </a:endParaRPr>
          </a:p>
        </p:txBody>
      </p:sp>
      <p:sp>
        <p:nvSpPr>
          <p:cNvPr id="1935260451" name="object 3"/>
          <p:cNvSpPr txBox="1"/>
          <p:nvPr/>
        </p:nvSpPr>
        <p:spPr bwMode="auto">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defRPr/>
            </a:pPr>
            <a:r>
              <a:rPr sz="1800" spc="-25">
                <a:latin typeface="Calibri"/>
                <a:cs typeface="Calibri"/>
              </a:rPr>
              <a:t>03</a:t>
            </a:r>
            <a:endParaRPr sz="1800">
              <a:latin typeface="Calibri"/>
              <a:cs typeface="Calibri"/>
            </a:endParaRPr>
          </a:p>
        </p:txBody>
      </p:sp>
      <p:sp>
        <p:nvSpPr>
          <p:cNvPr id="1515271569" name="object 4"/>
          <p:cNvSpPr txBox="1"/>
          <p:nvPr/>
        </p:nvSpPr>
        <p:spPr bwMode="auto">
          <a:xfrm>
            <a:off x="1600200" y="499755"/>
            <a:ext cx="6474604" cy="382156"/>
          </a:xfrm>
          <a:prstGeom prst="rect">
            <a:avLst/>
          </a:prstGeom>
        </p:spPr>
        <p:txBody>
          <a:bodyPr vert="horz" wrap="square" lIns="0" tIns="12700" rIns="0" bIns="0" rtlCol="0">
            <a:spAutoFit/>
          </a:bodyPr>
          <a:lstStyle/>
          <a:p>
            <a:r>
              <a:rPr lang="es-ES" sz="2400" dirty="0">
                <a:solidFill>
                  <a:schemeClr val="bg1"/>
                </a:solidFill>
              </a:rPr>
              <a:t>Ejercicio 4: Edición de datos de un estudiante</a:t>
            </a:r>
            <a:endParaRPr lang="es-MX" dirty="0">
              <a:solidFill>
                <a:schemeClr val="bg1"/>
              </a:solidFill>
              <a:latin typeface="Arial" panose="020B0604020202020204" pitchFamily="34" charset="0"/>
              <a:ea typeface="Arial" panose="020B0604020202020204" pitchFamily="34" charset="0"/>
            </a:endParaRPr>
          </a:p>
        </p:txBody>
      </p:sp>
      <p:sp>
        <p:nvSpPr>
          <p:cNvPr id="205095173" name="object 5"/>
          <p:cNvSpPr txBox="1"/>
          <p:nvPr/>
        </p:nvSpPr>
        <p:spPr bwMode="auto">
          <a:xfrm>
            <a:off x="4197155" y="9787924"/>
            <a:ext cx="8828469" cy="287379"/>
          </a:xfrm>
          <a:prstGeom prst="rect">
            <a:avLst/>
          </a:prstGeom>
        </p:spPr>
        <p:txBody>
          <a:bodyPr vert="horz" wrap="square" lIns="0" tIns="12700" rIns="0" bIns="0" rtlCol="0">
            <a:spAutoFit/>
          </a:bodyPr>
          <a:lstStyle/>
          <a:p>
            <a:pPr>
              <a:defRPr/>
            </a:pPr>
            <a:endParaRPr sz="1800">
              <a:solidFill>
                <a:schemeClr val="bg1"/>
              </a:solidFill>
            </a:endParaRPr>
          </a:p>
        </p:txBody>
      </p:sp>
      <p:sp>
        <p:nvSpPr>
          <p:cNvPr id="1927622888" name=" 1927622887"/>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sp>
        <p:nvSpPr>
          <p:cNvPr id="8" name="CuadroTexto 7">
            <a:extLst>
              <a:ext uri="{FF2B5EF4-FFF2-40B4-BE49-F238E27FC236}">
                <a16:creationId xmlns:a16="http://schemas.microsoft.com/office/drawing/2014/main" id="{BA6950F1-2F8F-0E4C-5581-A37E836F31A0}"/>
              </a:ext>
            </a:extLst>
          </p:cNvPr>
          <p:cNvSpPr txBox="1"/>
          <p:nvPr/>
        </p:nvSpPr>
        <p:spPr>
          <a:xfrm>
            <a:off x="3502804" y="8322631"/>
            <a:ext cx="9144000" cy="1256306"/>
          </a:xfrm>
          <a:prstGeom prst="rect">
            <a:avLst/>
          </a:prstGeom>
          <a:noFill/>
        </p:spPr>
        <p:txBody>
          <a:bodyPr wrap="square">
            <a:spAutoFit/>
          </a:bodyPr>
          <a:lstStyle/>
          <a:p>
            <a:pPr>
              <a:lnSpc>
                <a:spcPct val="107000"/>
              </a:lnSpc>
              <a:spcAft>
                <a:spcPts val="600"/>
              </a:spcAft>
            </a:pPr>
            <a:r>
              <a:rPr lang="es-ES" b="1" dirty="0">
                <a:solidFill>
                  <a:schemeClr val="bg1"/>
                </a:solidFill>
              </a:rPr>
              <a:t>Resultado esperado:</a:t>
            </a:r>
            <a:br>
              <a:rPr lang="es-ES" dirty="0">
                <a:solidFill>
                  <a:schemeClr val="bg1"/>
                </a:solidFill>
              </a:rPr>
            </a:br>
            <a:r>
              <a:rPr lang="es-ES" dirty="0">
                <a:solidFill>
                  <a:schemeClr val="bg1"/>
                </a:solidFill>
              </a:rPr>
              <a:t>La información del estudiante debe actualizarse correctamente en la tabla. Con esto se comprueba que la función de edición permite corregir o cambiar datos existentes dentro del sistema.</a:t>
            </a:r>
            <a:endParaRPr lang="es-MX"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p:txBody>
      </p:sp>
      <p:sp>
        <p:nvSpPr>
          <p:cNvPr id="4" name="CuadroTexto 3">
            <a:extLst>
              <a:ext uri="{FF2B5EF4-FFF2-40B4-BE49-F238E27FC236}">
                <a16:creationId xmlns:a16="http://schemas.microsoft.com/office/drawing/2014/main" id="{D5649FBE-40F3-405B-F7B5-7FDF80CD46E7}"/>
              </a:ext>
            </a:extLst>
          </p:cNvPr>
          <p:cNvSpPr txBox="1"/>
          <p:nvPr/>
        </p:nvSpPr>
        <p:spPr>
          <a:xfrm>
            <a:off x="2145080" y="1371266"/>
            <a:ext cx="9144000" cy="646331"/>
          </a:xfrm>
          <a:prstGeom prst="rect">
            <a:avLst/>
          </a:prstGeom>
          <a:noFill/>
        </p:spPr>
        <p:txBody>
          <a:bodyPr wrap="square">
            <a:spAutoFit/>
          </a:bodyPr>
          <a:lstStyle/>
          <a:p>
            <a:r>
              <a:rPr lang="es-ES" b="1" dirty="0">
                <a:solidFill>
                  <a:schemeClr val="bg1"/>
                </a:solidFill>
              </a:rPr>
              <a:t>Objetivo:</a:t>
            </a:r>
            <a:br>
              <a:rPr lang="es-ES" dirty="0">
                <a:solidFill>
                  <a:schemeClr val="bg1"/>
                </a:solidFill>
              </a:rPr>
            </a:br>
            <a:r>
              <a:rPr lang="es-ES" dirty="0">
                <a:solidFill>
                  <a:schemeClr val="bg1"/>
                </a:solidFill>
              </a:rPr>
              <a:t>Verificar que el sistema permita modificar la información de un estudiante ya registrado.</a:t>
            </a:r>
            <a:endParaRPr lang="es-MX" dirty="0">
              <a:solidFill>
                <a:schemeClr val="bg1"/>
              </a:solidFill>
            </a:endParaRPr>
          </a:p>
        </p:txBody>
      </p:sp>
      <p:pic>
        <p:nvPicPr>
          <p:cNvPr id="6" name="Imagen 5">
            <a:extLst>
              <a:ext uri="{FF2B5EF4-FFF2-40B4-BE49-F238E27FC236}">
                <a16:creationId xmlns:a16="http://schemas.microsoft.com/office/drawing/2014/main" id="{3149E00D-A486-94F7-0D7A-90C6D22867BD}"/>
              </a:ext>
            </a:extLst>
          </p:cNvPr>
          <p:cNvPicPr>
            <a:picLocks noChangeAspect="1"/>
          </p:cNvPicPr>
          <p:nvPr/>
        </p:nvPicPr>
        <p:blipFill>
          <a:blip r:embed="rId3"/>
          <a:stretch>
            <a:fillRect/>
          </a:stretch>
        </p:blipFill>
        <p:spPr>
          <a:xfrm>
            <a:off x="3048000" y="2611804"/>
            <a:ext cx="10260717" cy="4994773"/>
          </a:xfrm>
          <a:prstGeom prst="rect">
            <a:avLst/>
          </a:prstGeom>
        </p:spPr>
      </p:pic>
    </p:spTree>
    <p:extLst>
      <p:ext uri="{BB962C8B-B14F-4D97-AF65-F5344CB8AC3E}">
        <p14:creationId xmlns:p14="http://schemas.microsoft.com/office/powerpoint/2010/main" val="230241027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9769793" name="object 2"/>
          <p:cNvSpPr txBox="1">
            <a:spLocks noGrp="1"/>
          </p:cNvSpPr>
          <p:nvPr>
            <p:ph type="title"/>
          </p:nvPr>
        </p:nvSpPr>
        <p:spPr bwMode="auto">
          <a:xfrm>
            <a:off x="914400" y="503442"/>
            <a:ext cx="11008874" cy="1243930"/>
          </a:xfrm>
          <a:prstGeom prst="rect">
            <a:avLst/>
          </a:prstGeom>
        </p:spPr>
        <p:txBody>
          <a:bodyPr vert="horz" wrap="square" lIns="0" tIns="12700" rIns="0" bIns="0" rtlCol="0">
            <a:spAutoFit/>
          </a:bodyPr>
          <a:lstStyle/>
          <a:p>
            <a:pPr>
              <a:defRPr/>
            </a:pPr>
            <a:r>
              <a:rPr lang="es-ES" sz="8000" dirty="0">
                <a:solidFill>
                  <a:schemeClr val="bg1"/>
                </a:solidFill>
              </a:rPr>
              <a:t>  </a:t>
            </a:r>
            <a:endParaRPr sz="8000" dirty="0">
              <a:solidFill>
                <a:schemeClr val="bg1"/>
              </a:solidFill>
            </a:endParaRPr>
          </a:p>
        </p:txBody>
      </p:sp>
      <p:sp>
        <p:nvSpPr>
          <p:cNvPr id="1935260451" name="object 3"/>
          <p:cNvSpPr txBox="1"/>
          <p:nvPr/>
        </p:nvSpPr>
        <p:spPr bwMode="auto">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defRPr/>
            </a:pPr>
            <a:r>
              <a:rPr sz="1800" spc="-25">
                <a:latin typeface="Calibri"/>
                <a:cs typeface="Calibri"/>
              </a:rPr>
              <a:t>03</a:t>
            </a:r>
            <a:endParaRPr sz="1800">
              <a:latin typeface="Calibri"/>
              <a:cs typeface="Calibri"/>
            </a:endParaRPr>
          </a:p>
        </p:txBody>
      </p:sp>
      <p:sp>
        <p:nvSpPr>
          <p:cNvPr id="1515271569" name="object 4"/>
          <p:cNvSpPr txBox="1"/>
          <p:nvPr/>
        </p:nvSpPr>
        <p:spPr bwMode="auto">
          <a:xfrm>
            <a:off x="1600200" y="499755"/>
            <a:ext cx="11125200" cy="1322734"/>
          </a:xfrm>
          <a:prstGeom prst="rect">
            <a:avLst/>
          </a:prstGeom>
        </p:spPr>
        <p:txBody>
          <a:bodyPr vert="horz" wrap="square" lIns="0" tIns="12700" rIns="0" bIns="0" rtlCol="0">
            <a:spAutoFit/>
          </a:bodyPr>
          <a:lstStyle/>
          <a:p>
            <a:r>
              <a:rPr lang="es-ES" sz="2400" dirty="0">
                <a:solidFill>
                  <a:schemeClr val="bg1"/>
                </a:solidFill>
              </a:rPr>
              <a:t>Ejercicio 5: Eliminación de un estudiante</a:t>
            </a:r>
          </a:p>
          <a:p>
            <a:endParaRPr lang="es-ES" sz="2400" b="1" dirty="0">
              <a:solidFill>
                <a:schemeClr val="bg1"/>
              </a:solidFill>
            </a:endParaRPr>
          </a:p>
          <a:p>
            <a:pPr>
              <a:lnSpc>
                <a:spcPct val="107000"/>
              </a:lnSpc>
              <a:spcAft>
                <a:spcPts val="600"/>
              </a:spcAft>
            </a:pPr>
            <a:r>
              <a:rPr lang="es-ES" b="1" dirty="0">
                <a:solidFill>
                  <a:schemeClr val="bg1"/>
                </a:solidFill>
              </a:rPr>
              <a:t>Objetivo:</a:t>
            </a:r>
            <a:br>
              <a:rPr lang="es-ES" dirty="0">
                <a:solidFill>
                  <a:schemeClr val="bg1"/>
                </a:solidFill>
              </a:rPr>
            </a:br>
            <a:r>
              <a:rPr lang="es-ES" dirty="0">
                <a:solidFill>
                  <a:schemeClr val="bg1"/>
                </a:solidFill>
              </a:rPr>
              <a:t>Comprobar que el sistema permita eliminar registros de estudiantes desde la interfaz.</a:t>
            </a:r>
            <a:endParaRPr lang="es-MX" dirty="0">
              <a:solidFill>
                <a:schemeClr val="bg1"/>
              </a:solidFill>
              <a:latin typeface="Arial" panose="020B0604020202020204" pitchFamily="34" charset="0"/>
              <a:ea typeface="Arial" panose="020B0604020202020204" pitchFamily="34" charset="0"/>
            </a:endParaRPr>
          </a:p>
        </p:txBody>
      </p:sp>
      <p:sp>
        <p:nvSpPr>
          <p:cNvPr id="205095173" name="object 5"/>
          <p:cNvSpPr txBox="1"/>
          <p:nvPr/>
        </p:nvSpPr>
        <p:spPr bwMode="auto">
          <a:xfrm>
            <a:off x="4197155" y="9787924"/>
            <a:ext cx="8828469" cy="287379"/>
          </a:xfrm>
          <a:prstGeom prst="rect">
            <a:avLst/>
          </a:prstGeom>
        </p:spPr>
        <p:txBody>
          <a:bodyPr vert="horz" wrap="square" lIns="0" tIns="12700" rIns="0" bIns="0" rtlCol="0">
            <a:spAutoFit/>
          </a:bodyPr>
          <a:lstStyle/>
          <a:p>
            <a:pPr>
              <a:defRPr/>
            </a:pPr>
            <a:endParaRPr sz="1800">
              <a:solidFill>
                <a:schemeClr val="bg1"/>
              </a:solidFill>
            </a:endParaRPr>
          </a:p>
        </p:txBody>
      </p:sp>
      <p:sp>
        <p:nvSpPr>
          <p:cNvPr id="1927622888" name=" 1927622887"/>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sp>
        <p:nvSpPr>
          <p:cNvPr id="3" name="CuadroTexto 2">
            <a:extLst>
              <a:ext uri="{FF2B5EF4-FFF2-40B4-BE49-F238E27FC236}">
                <a16:creationId xmlns:a16="http://schemas.microsoft.com/office/drawing/2014/main" id="{DBF0CC17-2505-2B61-0C1E-A7AC8C224411}"/>
              </a:ext>
            </a:extLst>
          </p:cNvPr>
          <p:cNvSpPr txBox="1"/>
          <p:nvPr/>
        </p:nvSpPr>
        <p:spPr>
          <a:xfrm>
            <a:off x="1600200" y="7973584"/>
            <a:ext cx="9144000" cy="923330"/>
          </a:xfrm>
          <a:prstGeom prst="rect">
            <a:avLst/>
          </a:prstGeom>
          <a:noFill/>
        </p:spPr>
        <p:txBody>
          <a:bodyPr wrap="square">
            <a:spAutoFit/>
          </a:bodyPr>
          <a:lstStyle/>
          <a:p>
            <a:r>
              <a:rPr lang="es-ES" b="1" dirty="0">
                <a:solidFill>
                  <a:schemeClr val="bg1"/>
                </a:solidFill>
              </a:rPr>
              <a:t>Resultado esperado:</a:t>
            </a:r>
            <a:br>
              <a:rPr lang="es-ES" dirty="0">
                <a:solidFill>
                  <a:schemeClr val="bg1"/>
                </a:solidFill>
              </a:rPr>
            </a:br>
            <a:r>
              <a:rPr lang="es-ES" dirty="0">
                <a:solidFill>
                  <a:schemeClr val="bg1"/>
                </a:solidFill>
              </a:rPr>
              <a:t>El estudiante seleccionado debe desaparecer de la tabla. Esto permite verificar que la función de eliminación trabaja correctamente y que el registro fue removido del sistema.</a:t>
            </a:r>
            <a:endParaRPr lang="es-MX" dirty="0">
              <a:solidFill>
                <a:schemeClr val="bg1"/>
              </a:solidFill>
            </a:endParaRPr>
          </a:p>
        </p:txBody>
      </p:sp>
      <p:pic>
        <p:nvPicPr>
          <p:cNvPr id="6" name="Imagen 5">
            <a:extLst>
              <a:ext uri="{FF2B5EF4-FFF2-40B4-BE49-F238E27FC236}">
                <a16:creationId xmlns:a16="http://schemas.microsoft.com/office/drawing/2014/main" id="{F972C006-BEB5-8DF0-786E-05922CDA5443}"/>
              </a:ext>
            </a:extLst>
          </p:cNvPr>
          <p:cNvPicPr>
            <a:picLocks noChangeAspect="1"/>
          </p:cNvPicPr>
          <p:nvPr/>
        </p:nvPicPr>
        <p:blipFill>
          <a:blip r:embed="rId3"/>
          <a:stretch>
            <a:fillRect/>
          </a:stretch>
        </p:blipFill>
        <p:spPr>
          <a:xfrm>
            <a:off x="788254" y="2866453"/>
            <a:ext cx="9015241" cy="4336156"/>
          </a:xfrm>
          <a:prstGeom prst="rect">
            <a:avLst/>
          </a:prstGeom>
        </p:spPr>
      </p:pic>
      <p:pic>
        <p:nvPicPr>
          <p:cNvPr id="8" name="Imagen 7">
            <a:extLst>
              <a:ext uri="{FF2B5EF4-FFF2-40B4-BE49-F238E27FC236}">
                <a16:creationId xmlns:a16="http://schemas.microsoft.com/office/drawing/2014/main" id="{863EA8A0-BB15-94D8-1CBF-C476F0240949}"/>
              </a:ext>
            </a:extLst>
          </p:cNvPr>
          <p:cNvPicPr>
            <a:picLocks noChangeAspect="1"/>
          </p:cNvPicPr>
          <p:nvPr/>
        </p:nvPicPr>
        <p:blipFill>
          <a:blip r:embed="rId4"/>
          <a:stretch>
            <a:fillRect/>
          </a:stretch>
        </p:blipFill>
        <p:spPr>
          <a:xfrm>
            <a:off x="9906000" y="2916854"/>
            <a:ext cx="8686947" cy="4235353"/>
          </a:xfrm>
          <a:prstGeom prst="rect">
            <a:avLst/>
          </a:prstGeom>
        </p:spPr>
      </p:pic>
    </p:spTree>
    <p:extLst>
      <p:ext uri="{BB962C8B-B14F-4D97-AF65-F5344CB8AC3E}">
        <p14:creationId xmlns:p14="http://schemas.microsoft.com/office/powerpoint/2010/main" val="272959106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10098521" name="Freeform 8"/>
          <p:cNvSpPr/>
          <p:nvPr/>
        </p:nvSpPr>
        <p:spPr bwMode="auto">
          <a:xfrm>
            <a:off x="421081" y="521971"/>
            <a:ext cx="5802923" cy="4114800"/>
          </a:xfrm>
          <a:custGeom>
            <a:avLst/>
            <a:gdLst/>
            <a:ahLst/>
            <a:cxnLst/>
            <a:rect l="l" t="t" r="r" b="b"/>
            <a:pathLst>
              <a:path w="5802923" h="4114800" extrusionOk="0">
                <a:moveTo>
                  <a:pt x="0" y="0"/>
                </a:moveTo>
                <a:lnTo>
                  <a:pt x="5802923" y="0"/>
                </a:lnTo>
                <a:lnTo>
                  <a:pt x="5802923" y="4114800"/>
                </a:lnTo>
                <a:lnTo>
                  <a:pt x="0" y="4114800"/>
                </a:lnTo>
                <a:lnTo>
                  <a:pt x="0" y="0"/>
                </a:lnTo>
                <a:close/>
              </a:path>
            </a:pathLst>
          </a:custGeom>
          <a:blipFill rotWithShape="1">
            <a:blip r:embed="rId3"/>
            <a:stretch>
              <a:fillRect/>
            </a:stretch>
          </a:blipFill>
        </p:spPr>
      </p:sp>
      <p:sp>
        <p:nvSpPr>
          <p:cNvPr id="837217533" name="Freeform 9"/>
          <p:cNvSpPr/>
          <p:nvPr/>
        </p:nvSpPr>
        <p:spPr bwMode="auto">
          <a:xfrm flipH="1" flipV="1">
            <a:off x="12063996" y="5773361"/>
            <a:ext cx="5802923" cy="4114800"/>
          </a:xfrm>
          <a:custGeom>
            <a:avLst/>
            <a:gdLst/>
            <a:ahLst/>
            <a:cxnLst/>
            <a:rect l="l" t="t" r="r" b="b"/>
            <a:pathLst>
              <a:path w="5802923" h="4114800" extrusionOk="0">
                <a:moveTo>
                  <a:pt x="5802923" y="4114800"/>
                </a:moveTo>
                <a:lnTo>
                  <a:pt x="0" y="4114800"/>
                </a:lnTo>
                <a:lnTo>
                  <a:pt x="0" y="0"/>
                </a:lnTo>
                <a:lnTo>
                  <a:pt x="5802923" y="0"/>
                </a:lnTo>
                <a:lnTo>
                  <a:pt x="5802923" y="4114800"/>
                </a:lnTo>
                <a:close/>
              </a:path>
            </a:pathLst>
          </a:custGeom>
          <a:blipFill rotWithShape="1">
            <a:blip r:embed="rId3"/>
            <a:stretch>
              <a:fillRect/>
            </a:stretch>
          </a:blipFill>
        </p:spPr>
      </p:sp>
      <p:sp>
        <p:nvSpPr>
          <p:cNvPr id="552871635" name="AutoShape 10"/>
          <p:cNvSpPr/>
          <p:nvPr/>
        </p:nvSpPr>
        <p:spPr bwMode="auto">
          <a:xfrm flipV="1">
            <a:off x="6528547" y="607695"/>
            <a:ext cx="10942241" cy="0"/>
          </a:xfrm>
          <a:prstGeom prst="line">
            <a:avLst/>
          </a:prstGeom>
          <a:ln w="19050" cap="flat">
            <a:solidFill>
              <a:srgbClr val="FFFFFF"/>
            </a:solidFill>
            <a:prstDash val="solid"/>
            <a:headEnd type="oval" w="lg" len="lg"/>
            <a:tailEnd type="none" w="sm" len="sm"/>
          </a:ln>
        </p:spPr>
      </p:sp>
      <p:sp>
        <p:nvSpPr>
          <p:cNvPr id="1365982969" name="AutoShape 11"/>
          <p:cNvSpPr/>
          <p:nvPr/>
        </p:nvSpPr>
        <p:spPr bwMode="auto">
          <a:xfrm flipH="1">
            <a:off x="752883" y="9745287"/>
            <a:ext cx="10942241" cy="0"/>
          </a:xfrm>
          <a:prstGeom prst="line">
            <a:avLst/>
          </a:prstGeom>
          <a:ln w="19050" cap="flat">
            <a:solidFill>
              <a:srgbClr val="FFFFFF"/>
            </a:solidFill>
            <a:prstDash val="solid"/>
            <a:headEnd type="oval" w="lg" len="lg"/>
            <a:tailEnd type="none" w="sm" len="sm"/>
          </a:ln>
        </p:spPr>
      </p:sp>
      <p:sp>
        <p:nvSpPr>
          <p:cNvPr id="1237816248" name="TextBox 12"/>
          <p:cNvSpPr txBox="1"/>
          <p:nvPr/>
        </p:nvSpPr>
        <p:spPr bwMode="auto">
          <a:xfrm>
            <a:off x="5825861" y="3479905"/>
            <a:ext cx="6636277" cy="1723549"/>
          </a:xfrm>
          <a:prstGeom prst="rect">
            <a:avLst/>
          </a:prstGeom>
        </p:spPr>
        <p:txBody>
          <a:bodyPr wrap="square" lIns="0" tIns="0" rIns="0" bIns="0" rtlCol="0" anchor="t">
            <a:spAutoFit/>
          </a:bodyPr>
          <a:lstStyle/>
          <a:p>
            <a:pPr algn="l"/>
            <a:r>
              <a:rPr lang="es-ES" sz="2800" b="0" i="0" dirty="0">
                <a:solidFill>
                  <a:schemeClr val="bg1"/>
                </a:solidFill>
                <a:effectLst/>
                <a:latin typeface="pplxSerif"/>
              </a:rPr>
              <a:t>Anexo link de </a:t>
            </a:r>
            <a:r>
              <a:rPr lang="es-ES" sz="2800" b="0" i="0" dirty="0" err="1">
                <a:solidFill>
                  <a:schemeClr val="bg1"/>
                </a:solidFill>
                <a:effectLst/>
                <a:latin typeface="pplxSerif"/>
              </a:rPr>
              <a:t>git</a:t>
            </a:r>
            <a:r>
              <a:rPr lang="es-ES" sz="2800" b="0" i="0" dirty="0">
                <a:solidFill>
                  <a:schemeClr val="bg1"/>
                </a:solidFill>
                <a:effectLst/>
                <a:latin typeface="pplxSerif"/>
              </a:rPr>
              <a:t> con las actividades correspondientes</a:t>
            </a:r>
          </a:p>
          <a:p>
            <a:pPr algn="l"/>
            <a:r>
              <a:rPr lang="es-ES" sz="2800" b="0" i="0" dirty="0">
                <a:solidFill>
                  <a:schemeClr val="bg1"/>
                </a:solidFill>
                <a:effectLst/>
                <a:latin typeface="pplxSerif"/>
              </a:rPr>
              <a:t>https://github.com/eddiCastS/ABD-unidad-5-.git</a:t>
            </a:r>
          </a:p>
        </p:txBody>
      </p:sp>
      <p:sp>
        <p:nvSpPr>
          <p:cNvPr id="702311257" name="TextBox 13"/>
          <p:cNvSpPr txBox="1"/>
          <p:nvPr/>
        </p:nvSpPr>
        <p:spPr bwMode="auto">
          <a:xfrm>
            <a:off x="4185995" y="1759034"/>
            <a:ext cx="9916010" cy="1065079"/>
          </a:xfrm>
          <a:prstGeom prst="rect">
            <a:avLst/>
          </a:prstGeom>
        </p:spPr>
        <p:txBody>
          <a:bodyPr lIns="0" tIns="0" rIns="0" bIns="0" rtlCol="0" anchor="t">
            <a:spAutoFit/>
          </a:bodyPr>
          <a:lstStyle/>
          <a:p>
            <a:pPr marL="0" lvl="0" indent="0" algn="ctr">
              <a:lnSpc>
                <a:spcPts val="8758"/>
              </a:lnSpc>
              <a:spcBef>
                <a:spcPts val="0"/>
              </a:spcBef>
              <a:defRPr/>
            </a:pPr>
            <a:r>
              <a:rPr lang="en-US" sz="6250" u="none" strike="noStrike" spc="181" dirty="0">
                <a:solidFill>
                  <a:srgbClr val="FFFFFF"/>
                </a:solidFill>
                <a:latin typeface="Etna Sans Serif"/>
                <a:ea typeface="Etna Sans Serif"/>
                <a:cs typeface="Etna Sans Serif"/>
              </a:rPr>
              <a:t>Link de git hub</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pic>
        <p:nvPicPr>
          <p:cNvPr id="1086631050" name="object 2"/>
          <p:cNvPicPr/>
          <p:nvPr/>
        </p:nvPicPr>
        <p:blipFill rotWithShape="1">
          <a:blip r:embed="rId3"/>
          <a:stretch/>
        </p:blipFill>
        <p:spPr bwMode="auto">
          <a:xfrm>
            <a:off x="0" y="0"/>
            <a:ext cx="18288000" cy="10287000"/>
          </a:xfrm>
          <a:prstGeom prst="rect">
            <a:avLst/>
          </a:prstGeom>
        </p:spPr>
      </p:pic>
      <p:pic>
        <p:nvPicPr>
          <p:cNvPr id="1519869159" name="object 3"/>
          <p:cNvPicPr/>
          <p:nvPr/>
        </p:nvPicPr>
        <p:blipFill rotWithShape="1">
          <a:blip r:embed="rId4"/>
          <a:stretch/>
        </p:blipFill>
        <p:spPr bwMode="auto">
          <a:xfrm>
            <a:off x="421081" y="521971"/>
            <a:ext cx="5802922" cy="4114800"/>
          </a:xfrm>
          <a:prstGeom prst="rect">
            <a:avLst/>
          </a:prstGeom>
        </p:spPr>
      </p:pic>
      <p:pic>
        <p:nvPicPr>
          <p:cNvPr id="766756948" name="object 4"/>
          <p:cNvPicPr/>
          <p:nvPr/>
        </p:nvPicPr>
        <p:blipFill rotWithShape="1">
          <a:blip r:embed="rId5"/>
          <a:stretch/>
        </p:blipFill>
        <p:spPr bwMode="auto">
          <a:xfrm>
            <a:off x="12063945" y="5773356"/>
            <a:ext cx="5802922" cy="4114800"/>
          </a:xfrm>
          <a:prstGeom prst="rect">
            <a:avLst/>
          </a:prstGeom>
        </p:spPr>
      </p:pic>
      <p:grpSp>
        <p:nvGrpSpPr>
          <p:cNvPr id="195035859" name="object 5"/>
          <p:cNvGrpSpPr/>
          <p:nvPr/>
        </p:nvGrpSpPr>
        <p:grpSpPr bwMode="auto">
          <a:xfrm>
            <a:off x="6459493" y="531199"/>
            <a:ext cx="11011535" cy="153035"/>
            <a:chOff x="6459493" y="531199"/>
            <a:chExt cx="11011535" cy="153035"/>
          </a:xfrm>
        </p:grpSpPr>
        <p:sp>
          <p:nvSpPr>
            <p:cNvPr id="6" name="object 6"/>
            <p:cNvSpPr/>
            <p:nvPr/>
          </p:nvSpPr>
          <p:spPr bwMode="auto">
            <a:xfrm>
              <a:off x="6528549" y="607694"/>
              <a:ext cx="10942320" cy="0"/>
            </a:xfrm>
            <a:custGeom>
              <a:avLst/>
              <a:gdLst/>
              <a:ahLst/>
              <a:cxnLst/>
              <a:rect l="l" t="t" r="r" b="b"/>
              <a:pathLst>
                <a:path w="10942319" extrusionOk="0">
                  <a:moveTo>
                    <a:pt x="0" y="0"/>
                  </a:moveTo>
                  <a:lnTo>
                    <a:pt x="10942243" y="0"/>
                  </a:lnTo>
                </a:path>
              </a:pathLst>
            </a:custGeom>
            <a:grpFill/>
            <a:ln w="19049">
              <a:solidFill>
                <a:srgbClr val="FFFFFF"/>
              </a:solidFill>
            </a:ln>
          </p:spPr>
          <p:txBody>
            <a:bodyPr wrap="square" lIns="0" tIns="0" rIns="0" bIns="0" rtlCol="0"/>
            <a:lstStyle/>
            <a:p>
              <a:pPr>
                <a:defRPr/>
              </a:pPr>
              <a:endParaRPr/>
            </a:p>
          </p:txBody>
        </p:sp>
        <p:pic>
          <p:nvPicPr>
            <p:cNvPr id="7" name="object 7"/>
            <p:cNvPicPr/>
            <p:nvPr/>
          </p:nvPicPr>
          <p:blipFill rotWithShape="1">
            <a:blip r:embed="rId6"/>
            <a:stretch/>
          </p:blipFill>
          <p:spPr bwMode="auto">
            <a:xfrm>
              <a:off x="6459493" y="531199"/>
              <a:ext cx="138111" cy="152990"/>
            </a:xfrm>
            <a:prstGeom prst="rect">
              <a:avLst/>
            </a:prstGeom>
          </p:spPr>
        </p:pic>
      </p:grpSp>
      <p:grpSp>
        <p:nvGrpSpPr>
          <p:cNvPr id="560480666" name="object 8"/>
          <p:cNvGrpSpPr/>
          <p:nvPr/>
        </p:nvGrpSpPr>
        <p:grpSpPr bwMode="auto">
          <a:xfrm>
            <a:off x="752881" y="9668786"/>
            <a:ext cx="11011535" cy="153035"/>
            <a:chOff x="752881" y="9668786"/>
            <a:chExt cx="11011535" cy="153035"/>
          </a:xfrm>
        </p:grpSpPr>
        <p:sp>
          <p:nvSpPr>
            <p:cNvPr id="9" name="object 9"/>
            <p:cNvSpPr/>
            <p:nvPr/>
          </p:nvSpPr>
          <p:spPr bwMode="auto">
            <a:xfrm>
              <a:off x="752881" y="9745281"/>
              <a:ext cx="10942320" cy="0"/>
            </a:xfrm>
            <a:custGeom>
              <a:avLst/>
              <a:gdLst/>
              <a:ahLst/>
              <a:cxnLst/>
              <a:rect l="l" t="t" r="r" b="b"/>
              <a:pathLst>
                <a:path w="10942320" extrusionOk="0">
                  <a:moveTo>
                    <a:pt x="10942243" y="0"/>
                  </a:moveTo>
                  <a:lnTo>
                    <a:pt x="0" y="0"/>
                  </a:lnTo>
                </a:path>
              </a:pathLst>
            </a:custGeom>
            <a:grpFill/>
            <a:ln w="19049">
              <a:solidFill>
                <a:srgbClr val="FFFFFF"/>
              </a:solidFill>
            </a:ln>
          </p:spPr>
          <p:txBody>
            <a:bodyPr wrap="square" lIns="0" tIns="0" rIns="0" bIns="0" rtlCol="0"/>
            <a:lstStyle/>
            <a:p>
              <a:pPr>
                <a:defRPr/>
              </a:pPr>
              <a:endParaRPr/>
            </a:p>
          </p:txBody>
        </p:sp>
        <p:pic>
          <p:nvPicPr>
            <p:cNvPr id="10" name="object 10"/>
            <p:cNvPicPr/>
            <p:nvPr/>
          </p:nvPicPr>
          <p:blipFill rotWithShape="1">
            <a:blip r:embed="rId7"/>
            <a:stretch/>
          </p:blipFill>
          <p:spPr bwMode="auto">
            <a:xfrm>
              <a:off x="11626069" y="9668786"/>
              <a:ext cx="138111" cy="152990"/>
            </a:xfrm>
            <a:prstGeom prst="rect">
              <a:avLst/>
            </a:prstGeom>
          </p:spPr>
        </p:pic>
      </p:grpSp>
      <p:sp>
        <p:nvSpPr>
          <p:cNvPr id="1527036298" name="object 11"/>
          <p:cNvSpPr txBox="1"/>
          <p:nvPr/>
        </p:nvSpPr>
        <p:spPr bwMode="auto">
          <a:xfrm>
            <a:off x="5181600" y="3041834"/>
            <a:ext cx="8839200" cy="6657913"/>
          </a:xfrm>
          <a:prstGeom prst="rect">
            <a:avLst/>
          </a:prstGeom>
        </p:spPr>
        <p:txBody>
          <a:bodyPr vert="horz" wrap="square" lIns="0" tIns="12700" rIns="0" bIns="0" rtlCol="0">
            <a:spAutoFit/>
          </a:bodyPr>
          <a:lstStyle/>
          <a:p>
            <a:r>
              <a:rPr lang="es-ES" sz="2400" dirty="0">
                <a:solidFill>
                  <a:schemeClr val="bg1"/>
                </a:solidFill>
              </a:rPr>
              <a:t>Podemos concluir que este banco de ejercicios fue de gran utilidad porque permitió comprobar el funcionamiento de las principales operaciones realizadas dentro de la aplicación. A través de cada ejercicio se verificó que el sistema pudiera mostrar la lista de estudiantes, buscar registros, agregar nuevos datos, modificar información existente y eliminar estudiantes desde la interfaz web</a:t>
            </a:r>
          </a:p>
          <a:p>
            <a:r>
              <a:rPr lang="es-ES" sz="2400" dirty="0">
                <a:solidFill>
                  <a:schemeClr val="bg1"/>
                </a:solidFill>
              </a:rPr>
              <a:t>Asimismo, esta actividad ayudó a reforzar los conocimientos sobre la conexión entre Angular, Spring </a:t>
            </a:r>
            <a:r>
              <a:rPr lang="es-ES" sz="2400" dirty="0" err="1">
                <a:solidFill>
                  <a:schemeClr val="bg1"/>
                </a:solidFill>
              </a:rPr>
              <a:t>Boot</a:t>
            </a:r>
            <a:r>
              <a:rPr lang="es-ES" sz="2400" dirty="0">
                <a:solidFill>
                  <a:schemeClr val="bg1"/>
                </a:solidFill>
              </a:rPr>
              <a:t> y PostgreSQL, comprendiendo cómo cada parte cumple una función dentro del sistema. El </a:t>
            </a:r>
            <a:r>
              <a:rPr lang="es-ES" sz="2400" dirty="0" err="1">
                <a:solidFill>
                  <a:schemeClr val="bg1"/>
                </a:solidFill>
              </a:rPr>
              <a:t>frontend</a:t>
            </a:r>
            <a:r>
              <a:rPr lang="es-ES" sz="2400" dirty="0">
                <a:solidFill>
                  <a:schemeClr val="bg1"/>
                </a:solidFill>
              </a:rPr>
              <a:t> permite que el usuario interactúe con la aplicación, mientras que el </a:t>
            </a:r>
            <a:r>
              <a:rPr lang="es-ES" sz="2400" dirty="0" err="1">
                <a:solidFill>
                  <a:schemeClr val="bg1"/>
                </a:solidFill>
              </a:rPr>
              <a:t>backend</a:t>
            </a:r>
            <a:r>
              <a:rPr lang="es-ES" sz="2400" dirty="0">
                <a:solidFill>
                  <a:schemeClr val="bg1"/>
                </a:solidFill>
              </a:rPr>
              <a:t> procesa las solicitudes y la base de datos almacena la información. En conclusión, este trabajo permitió demostrar que la aplicación funciona correctamente y que cuenta con las funciones básicas necesarias para la gestión de estudiantes.</a:t>
            </a:r>
          </a:p>
          <a:p>
            <a:endParaRPr lang="es-ES" sz="2400" dirty="0">
              <a:solidFill>
                <a:schemeClr val="bg1"/>
              </a:solidFill>
            </a:endParaRPr>
          </a:p>
          <a:p>
            <a:pPr>
              <a:lnSpc>
                <a:spcPct val="107000"/>
              </a:lnSpc>
              <a:spcAft>
                <a:spcPts val="600"/>
              </a:spcAft>
            </a:pPr>
            <a:endParaRPr lang="es-MX"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p:txBody>
      </p:sp>
      <p:sp>
        <p:nvSpPr>
          <p:cNvPr id="1321808712" name="object 12"/>
          <p:cNvSpPr txBox="1">
            <a:spLocks noGrp="1"/>
          </p:cNvSpPr>
          <p:nvPr>
            <p:ph type="title"/>
          </p:nvPr>
        </p:nvSpPr>
        <p:spPr bwMode="auto">
          <a:xfrm>
            <a:off x="7053109" y="1889315"/>
            <a:ext cx="4159250" cy="977900"/>
          </a:xfrm>
          <a:prstGeom prst="rect">
            <a:avLst/>
          </a:prstGeom>
        </p:spPr>
        <p:txBody>
          <a:bodyPr vert="horz" wrap="square" lIns="0" tIns="12700" rIns="0" bIns="0" rtlCol="0">
            <a:spAutoFit/>
          </a:bodyPr>
          <a:lstStyle/>
          <a:p>
            <a:pPr marL="12700">
              <a:lnSpc>
                <a:spcPct val="100000"/>
              </a:lnSpc>
              <a:spcBef>
                <a:spcPts val="100"/>
              </a:spcBef>
              <a:defRPr/>
            </a:pPr>
            <a:r>
              <a:rPr sz="6250" spc="150"/>
              <a:t>Conclusion</a:t>
            </a:r>
            <a:endParaRPr sz="625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545</TotalTime>
  <Words>817</Words>
  <Application>Microsoft Office PowerPoint</Application>
  <PresentationFormat>Personalizado</PresentationFormat>
  <Paragraphs>73</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Etna Sans Serif</vt:lpstr>
      <vt:lpstr>pplxSerif</vt:lpstr>
      <vt:lpstr>Office Theme</vt:lpstr>
      <vt:lpstr>Presentación de PowerPoint</vt:lpstr>
      <vt:lpstr>INTRODUCCION</vt:lpstr>
      <vt:lpstr>JUSTIFICACION</vt:lpstr>
      <vt:lpstr>  </vt:lpstr>
      <vt:lpstr>  </vt:lpstr>
      <vt:lpstr>  </vt:lpstr>
      <vt:lpstr>  </vt:lpstr>
      <vt:lpstr>  </vt:lpstr>
      <vt:lpstr>Presentación de PowerPoint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Eddi Castillo</dc:creator>
  <cp:lastModifiedBy>eddi castillo</cp:lastModifiedBy>
  <cp:revision>13</cp:revision>
  <dcterms:created xsi:type="dcterms:W3CDTF">2026-05-06T04:52:09Z</dcterms:created>
  <dcterms:modified xsi:type="dcterms:W3CDTF">2026-06-15T11:33:58Z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2026-05-06T00:00:00Z</vt:filetime>
  </property>
  <property fmtid="{D5CDD505-2E9C-101B-9397-08002B2CF9AE}" pid="3" name="LastSaved">
    <vt:filetime>2026-05-06T00:00:00Z</vt:filetime>
  </property>
  <property fmtid="{D5CDD505-2E9C-101B-9397-08002B2CF9AE}" pid="4" name="Producer">
    <vt:lpwstr>3-Heights(TM) PDF Security Shell 4.8.25.2 (http://www.pdf-tools.com)</vt:lpwstr>
  </property>
</Properties>
</file>