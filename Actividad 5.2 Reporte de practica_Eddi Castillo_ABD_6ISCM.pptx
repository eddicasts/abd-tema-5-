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70" r:id="rId17"/>
    <p:sldId id="263" r:id="rId18"/>
  </p:sldIdLst>
  <p:sldSz cx="18288000" cy="10287000"/>
  <p:notesSz cx="18288000" cy="10287000"/>
  <p:defaultTextStyle>
    <a:defPPr>
      <a:defRPr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6" autoAdjust="0"/>
    <p:restoredTop sz="94660"/>
  </p:normalViewPr>
  <p:slideViewPr>
    <p:cSldViewPr>
      <p:cViewPr varScale="1">
        <p:scale>
          <a:sx n="52" d="100"/>
          <a:sy n="52" d="100"/>
        </p:scale>
        <p:origin x="965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F18944-D6FA-56D4-FD40-79D83DBD4AA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1C3244-B1D7-8B3E-B480-BDDD44BB755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AAC240-CDCB-4B3E-A3FD-AAFE001FB73F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3702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3836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0826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067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0279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1137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2354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29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58958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98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4522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9EC8BC-B3D1-A74E-C214-6A6C616F21EC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5CC06C-4856-61F3-0BF2-E27DEFF228F3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49164" name="Holder 2"/>
          <p:cNvSpPr>
            <a:spLocks noGrp="1"/>
          </p:cNvSpPr>
          <p:nvPr>
            <p:ph type="ctrTitle"/>
          </p:nvPr>
        </p:nvSpPr>
        <p:spPr bwMode="auto"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9003789" name="Holder 3"/>
          <p:cNvSpPr>
            <a:spLocks noGrp="1"/>
          </p:cNvSpPr>
          <p:nvPr>
            <p:ph type="subTitle" idx="4"/>
          </p:nvPr>
        </p:nvSpPr>
        <p:spPr bwMode="auto"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75429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870512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7851240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24495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5639691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94577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377036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129191383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662680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0550572" name="Holder 3"/>
          <p:cNvSpPr>
            <a:spLocks noGrp="1"/>
          </p:cNvSpPr>
          <p:nvPr>
            <p:ph sz="half" idx="2"/>
          </p:nvPr>
        </p:nvSpPr>
        <p:spPr bwMode="auto"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43120115" name="Holder 4"/>
          <p:cNvSpPr>
            <a:spLocks noGrp="1"/>
          </p:cNvSpPr>
          <p:nvPr>
            <p:ph sz="half" idx="3"/>
          </p:nvPr>
        </p:nvSpPr>
        <p:spPr bwMode="auto"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2433102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595200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57754968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847346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853533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148358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4332389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98287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2754612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016742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50967655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3465348" name="bg object 16"/>
          <p:cNvPicPr/>
          <p:nvPr/>
        </p:nvPicPr>
        <p:blipFill rotWithShape="1">
          <a:blip r:embed="rId7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129486492" name="Holder 2"/>
          <p:cNvSpPr>
            <a:spLocks noGrp="1"/>
          </p:cNvSpPr>
          <p:nvPr>
            <p:ph type="title"/>
          </p:nvPr>
        </p:nvSpPr>
        <p:spPr bwMode="auto">
          <a:xfrm>
            <a:off x="1212644" y="475122"/>
            <a:ext cx="1099375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6246971" name="Holder 3"/>
          <p:cNvSpPr>
            <a:spLocks noGrp="1"/>
          </p:cNvSpPr>
          <p:nvPr>
            <p:ph type="body" idx="1"/>
          </p:nvPr>
        </p:nvSpPr>
        <p:spPr bwMode="auto">
          <a:xfrm>
            <a:off x="8231123" y="1590154"/>
            <a:ext cx="9259568" cy="4782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499525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390626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61925490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eddiCastS/ABD-unidad-5-.git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435529" name="object 2"/>
          <p:cNvSpPr txBox="1"/>
          <p:nvPr/>
        </p:nvSpPr>
        <p:spPr bwMode="auto">
          <a:xfrm>
            <a:off x="4025952" y="1870683"/>
            <a:ext cx="8243874" cy="7525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2420" marR="25336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Instituto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  <a:cs typeface="Arial"/>
              </a:rPr>
              <a:t>Tecnológico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Frontera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 err="1">
                <a:solidFill>
                  <a:srgbClr val="FFFFFF"/>
                </a:solidFill>
                <a:latin typeface="Arial"/>
                <a:cs typeface="Arial"/>
              </a:rPr>
              <a:t>Comalapa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  <a:cs typeface="Arial"/>
              </a:rPr>
              <a:t>Modalidad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Mixta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defRPr/>
            </a:pPr>
            <a:endParaRPr sz="24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Materia:</a:t>
            </a:r>
            <a:endParaRPr sz="2600" dirty="0">
              <a:latin typeface="Arial"/>
              <a:cs typeface="Arial"/>
            </a:endParaRPr>
          </a:p>
          <a:p>
            <a:pPr marL="1322070" algn="ctr">
              <a:lnSpc>
                <a:spcPct val="100000"/>
              </a:lnSpc>
              <a:defRPr/>
            </a:pP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Administración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2600" dirty="0">
              <a:latin typeface="Arial"/>
              <a:cs typeface="Arial"/>
            </a:endParaRPr>
          </a:p>
          <a:p>
            <a:pPr marL="3627754" marR="2297430" indent="1905" algn="ctr">
              <a:lnSpc>
                <a:spcPct val="100000"/>
              </a:lnSpc>
              <a:defRPr/>
            </a:pP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Semestre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Sexto</a:t>
            </a:r>
            <a:r>
              <a:rPr sz="26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semestre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Especialidad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17625" algn="ctr">
              <a:lnSpc>
                <a:spcPct val="100000"/>
              </a:lnSpc>
              <a:defRPr/>
            </a:pPr>
            <a:r>
              <a:rPr sz="2600" dirty="0" err="1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Computacionales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600" dirty="0">
              <a:latin typeface="Arial"/>
              <a:cs typeface="Arial"/>
            </a:endParaRPr>
          </a:p>
          <a:p>
            <a:pPr marL="1322705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Numero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control:</a:t>
            </a:r>
            <a:endParaRPr sz="2600" dirty="0">
              <a:latin typeface="Arial"/>
              <a:cs typeface="Arial"/>
            </a:endParaRPr>
          </a:p>
          <a:p>
            <a:pPr marL="1323974" algn="ctr">
              <a:lnSpc>
                <a:spcPct val="100000"/>
              </a:lnSpc>
              <a:defRPr/>
            </a:pP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231260005</a:t>
            </a:r>
            <a:endParaRPr sz="26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alumno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Eddi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Uriel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Castillo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Sánchez</a:t>
            </a:r>
            <a:endParaRPr sz="26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docente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23974" algn="ctr">
              <a:lnSpc>
                <a:spcPct val="100000"/>
              </a:lnSpc>
              <a:defRPr/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Francisco</a:t>
            </a:r>
            <a:r>
              <a:rPr sz="2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Javier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Mingo</a:t>
            </a:r>
            <a:r>
              <a:rPr sz="2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Velazquez</a:t>
            </a:r>
            <a:endParaRPr sz="2600" dirty="0">
              <a:latin typeface="Arial"/>
              <a:cs typeface="Arial"/>
            </a:endParaRPr>
          </a:p>
          <a:p>
            <a:pPr marL="1322705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trabajo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21435" algn="ctr">
              <a:lnSpc>
                <a:spcPct val="100000"/>
              </a:lnSpc>
              <a:defRPr/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Act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2600" spc="-10" dirty="0">
                <a:solidFill>
                  <a:srgbClr val="FFFFFF"/>
                </a:solidFill>
                <a:latin typeface="Arial"/>
                <a:cs typeface="Arial"/>
              </a:rPr>
              <a:t>4.2 Reporte de practica</a:t>
            </a:r>
            <a:endParaRPr sz="2600" dirty="0">
              <a:latin typeface="Arial"/>
              <a:cs typeface="Arial"/>
            </a:endParaRPr>
          </a:p>
          <a:p>
            <a:pPr marL="1324610" algn="ctr">
              <a:lnSpc>
                <a:spcPts val="312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Fecha</a:t>
            </a:r>
            <a:r>
              <a:rPr sz="2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entrega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algn="ctr">
              <a:lnSpc>
                <a:spcPts val="3360"/>
              </a:lnSpc>
              <a:defRPr/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Frontera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Arial"/>
                <a:cs typeface="Arial"/>
              </a:rPr>
              <a:t>comalapa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Chiapas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2800" spc="-74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2800" spc="-80">
                <a:solidFill>
                  <a:srgbClr val="FFFFFF"/>
                </a:solidFill>
                <a:latin typeface="Arial"/>
                <a:cs typeface="Arial"/>
              </a:rPr>
              <a:t>mayo</a:t>
            </a:r>
            <a:r>
              <a:rPr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1917351689" name="object 3"/>
          <p:cNvPicPr/>
          <p:nvPr/>
        </p:nvPicPr>
        <p:blipFill rotWithShape="1">
          <a:blip r:embed="rId3"/>
          <a:stretch/>
        </p:blipFill>
        <p:spPr bwMode="auto">
          <a:xfrm>
            <a:off x="5830455" y="461817"/>
            <a:ext cx="5561326" cy="6330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837920" name="object 2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76184189" name="object 3"/>
          <p:cNvPicPr/>
          <p:nvPr/>
        </p:nvPicPr>
        <p:blipFill rotWithShape="1">
          <a:blip r:embed="rId4"/>
          <a:stretch/>
        </p:blipFill>
        <p:spPr bwMode="auto">
          <a:xfrm>
            <a:off x="10217454" y="2075217"/>
            <a:ext cx="6579146" cy="6579146"/>
          </a:xfrm>
          <a:prstGeom prst="rect">
            <a:avLst/>
          </a:prstGeom>
        </p:spPr>
      </p:pic>
      <p:pic>
        <p:nvPicPr>
          <p:cNvPr id="135897183" name="object 4"/>
          <p:cNvPicPr/>
          <p:nvPr/>
        </p:nvPicPr>
        <p:blipFill rotWithShape="1">
          <a:blip r:embed="rId5"/>
          <a:stretch/>
        </p:blipFill>
        <p:spPr bwMode="auto">
          <a:xfrm>
            <a:off x="0" y="8710282"/>
            <a:ext cx="3608796" cy="920165"/>
          </a:xfrm>
          <a:prstGeom prst="rect">
            <a:avLst/>
          </a:prstGeom>
        </p:spPr>
      </p:pic>
      <p:pic>
        <p:nvPicPr>
          <p:cNvPr id="1329934680" name="object 5"/>
          <p:cNvPicPr/>
          <p:nvPr/>
        </p:nvPicPr>
        <p:blipFill rotWithShape="1">
          <a:blip r:embed="rId6"/>
          <a:stretch/>
        </p:blipFill>
        <p:spPr bwMode="auto">
          <a:xfrm>
            <a:off x="13401929" y="0"/>
            <a:ext cx="3857421" cy="617938"/>
          </a:xfrm>
          <a:prstGeom prst="rect">
            <a:avLst/>
          </a:prstGeom>
        </p:spPr>
      </p:pic>
      <p:sp>
        <p:nvSpPr>
          <p:cNvPr id="800057142" name="object 6"/>
          <p:cNvSpPr txBox="1">
            <a:spLocks noGrp="1"/>
          </p:cNvSpPr>
          <p:nvPr>
            <p:ph type="title"/>
          </p:nvPr>
        </p:nvSpPr>
        <p:spPr bwMode="auto">
          <a:xfrm>
            <a:off x="1981200" y="963800"/>
            <a:ext cx="8663474" cy="1293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8400" spc="195" dirty="0"/>
              <a:t>INTRODUCCI</a:t>
            </a:r>
            <a:r>
              <a:rPr lang="es-ES" sz="8400" spc="194" dirty="0"/>
              <a:t>O</a:t>
            </a:r>
            <a:r>
              <a:rPr sz="8400" spc="194" dirty="0"/>
              <a:t>N</a:t>
            </a:r>
            <a:endParaRPr sz="8400" dirty="0"/>
          </a:p>
        </p:txBody>
      </p:sp>
      <p:sp>
        <p:nvSpPr>
          <p:cNvPr id="1143880378" name="object 7"/>
          <p:cNvSpPr txBox="1"/>
          <p:nvPr/>
        </p:nvSpPr>
        <p:spPr bwMode="auto">
          <a:xfrm>
            <a:off x="1666607" y="4926849"/>
            <a:ext cx="6841069" cy="1648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/>
            </a:pPr>
            <a:r>
              <a:rPr lang="es-ES"/>
              <a:t>kbihbih</a:t>
            </a:r>
            <a:endParaRPr/>
          </a:p>
        </p:txBody>
      </p:sp>
      <p:sp>
        <p:nvSpPr>
          <p:cNvPr id="1859957140" name="CuadroTexto 1859957139"/>
          <p:cNvSpPr txBox="1"/>
          <p:nvPr/>
        </p:nvSpPr>
        <p:spPr bwMode="auto">
          <a:xfrm>
            <a:off x="7146542" y="5021579"/>
            <a:ext cx="3994913" cy="243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t>Actividad 2.3 Banco de ejercicios__EddiCastillo_6ISCM-comprimido (1) (1)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EEF3DEF-2600-914F-DF8F-BC3EDD0C12A2}"/>
              </a:ext>
            </a:extLst>
          </p:cNvPr>
          <p:cNvSpPr txBox="1"/>
          <p:nvPr/>
        </p:nvSpPr>
        <p:spPr>
          <a:xfrm>
            <a:off x="1024149" y="3160082"/>
            <a:ext cx="9261986" cy="606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práctica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desarrolló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aplicación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frontend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utilizando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Angular, con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propósito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consumir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endpoints REST del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-service. Este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construido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previamente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Spring Boot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conectado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base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PostgreSQL,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lo que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objetivo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principal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comprobar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entre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cliente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web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mediante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peticiones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HTTP.</a:t>
            </a:r>
            <a:endParaRPr lang="es-MX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práctica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observar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cómo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aplicación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distribuida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puede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dividir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sus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responsabilidades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encarga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administrar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lógica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las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operaciones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sobre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base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mientras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frontend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presenta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información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usuario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interactuar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ella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mediante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formularios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tablas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Para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lograr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Angular,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herramienta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enviar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solicitudes GET, POST y DELETE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hacia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API REST.</a:t>
            </a:r>
            <a:endParaRPr lang="es-MX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8637018" name="object 2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43289801" name="object 3"/>
          <p:cNvPicPr/>
          <p:nvPr/>
        </p:nvPicPr>
        <p:blipFill rotWithShape="1">
          <a:blip r:embed="rId4"/>
          <a:stretch/>
        </p:blipFill>
        <p:spPr bwMode="auto">
          <a:xfrm>
            <a:off x="10217454" y="2075217"/>
            <a:ext cx="6579146" cy="6579146"/>
          </a:xfrm>
          <a:prstGeom prst="rect">
            <a:avLst/>
          </a:prstGeom>
        </p:spPr>
      </p:pic>
      <p:pic>
        <p:nvPicPr>
          <p:cNvPr id="820845946" name="object 4"/>
          <p:cNvPicPr/>
          <p:nvPr/>
        </p:nvPicPr>
        <p:blipFill rotWithShape="1">
          <a:blip r:embed="rId5"/>
          <a:stretch/>
        </p:blipFill>
        <p:spPr bwMode="auto">
          <a:xfrm>
            <a:off x="0" y="8710282"/>
            <a:ext cx="3608796" cy="920165"/>
          </a:xfrm>
          <a:prstGeom prst="rect">
            <a:avLst/>
          </a:prstGeom>
        </p:spPr>
      </p:pic>
      <p:pic>
        <p:nvPicPr>
          <p:cNvPr id="101900535" name="object 5"/>
          <p:cNvPicPr/>
          <p:nvPr/>
        </p:nvPicPr>
        <p:blipFill rotWithShape="1">
          <a:blip r:embed="rId6"/>
          <a:stretch/>
        </p:blipFill>
        <p:spPr bwMode="auto">
          <a:xfrm>
            <a:off x="13401929" y="0"/>
            <a:ext cx="3857421" cy="617938"/>
          </a:xfrm>
          <a:prstGeom prst="rect">
            <a:avLst/>
          </a:prstGeom>
        </p:spPr>
      </p:pic>
      <p:sp>
        <p:nvSpPr>
          <p:cNvPr id="613112491" name="object 6"/>
          <p:cNvSpPr txBox="1">
            <a:spLocks noGrp="1"/>
          </p:cNvSpPr>
          <p:nvPr>
            <p:ph type="title"/>
          </p:nvPr>
        </p:nvSpPr>
        <p:spPr bwMode="auto">
          <a:xfrm>
            <a:off x="1066800" y="804127"/>
            <a:ext cx="84562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8400" spc="200" dirty="0"/>
              <a:t>JUSTIFICACION</a:t>
            </a:r>
            <a:endParaRPr sz="8400" dirty="0"/>
          </a:p>
        </p:txBody>
      </p:sp>
      <p:sp>
        <p:nvSpPr>
          <p:cNvPr id="1661579641" name="object 7"/>
          <p:cNvSpPr txBox="1"/>
          <p:nvPr/>
        </p:nvSpPr>
        <p:spPr bwMode="auto">
          <a:xfrm>
            <a:off x="1666607" y="4939905"/>
            <a:ext cx="6689304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1800"/>
              <a:t>khvgv</a:t>
            </a:r>
            <a:endParaRPr sz="18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DFF785A-B319-4399-9602-B368BCAEB6D8}"/>
              </a:ext>
            </a:extLst>
          </p:cNvPr>
          <p:cNvSpPr txBox="1"/>
          <p:nvPr/>
        </p:nvSpPr>
        <p:spPr>
          <a:xfrm>
            <a:off x="1219200" y="2585528"/>
            <a:ext cx="92619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Esta práctica se justifica porque permite integrar un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pplxSerif"/>
              </a:rPr>
              <a:t>frontend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 desarrollado en Angular con un microservicio creado en Spring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pplxSerif"/>
              </a:rPr>
              <a:t>Boot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, comprobando la comunicación entre cliente y servidor mediante servicios REST. Además, facilita comprender cómo se organiza una aplicación distribuida, separando las responsabilidades del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pplxSerif"/>
              </a:rPr>
              <a:t>backend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, que administra los datos y la lógica, y del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pplxSerif"/>
              </a:rPr>
              <a:t>frontend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, que presenta la información al usuario.</a:t>
            </a:r>
          </a:p>
          <a:p>
            <a:br>
              <a:rPr lang="es-ES" sz="2800" dirty="0"/>
            </a:br>
            <a:endParaRPr lang="es-MX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6474604" cy="1453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s-ES" sz="2400" dirty="0">
                <a:solidFill>
                  <a:schemeClr val="bg1"/>
                </a:solidFill>
              </a:rPr>
              <a:t>Paso 1: 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Angular CLI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utilizó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siguiente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comando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2860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Arial" panose="020B0604020202020204" pitchFamily="34" charset="0"/>
              </a:rPr>
              <a:t>sudo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Arial" panose="020B0604020202020204" pitchFamily="34" charset="0"/>
              </a:rPr>
              <a:t>npm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Arial" panose="020B0604020202020204" pitchFamily="34" charset="0"/>
              </a:rPr>
              <a:t> install -g @angular/cli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Consolas" panose="020B0609020204030204" pitchFamily="49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F96AE22B-30A3-3C3E-81D1-0B8AF6A791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21973A-1439-BE6D-156C-BAFD8D697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3228837"/>
            <a:ext cx="10297270" cy="5187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6474604" cy="2883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Paso 2: </a:t>
            </a:r>
            <a:r>
              <a:rPr lang="es-ES" sz="2400" b="1" dirty="0" err="1">
                <a:solidFill>
                  <a:schemeClr val="bg1"/>
                </a:solidFill>
              </a:rPr>
              <a:t>Creacion</a:t>
            </a:r>
            <a:r>
              <a:rPr lang="es-ES" sz="2400" b="1" dirty="0">
                <a:solidFill>
                  <a:schemeClr val="bg1"/>
                </a:solidFill>
              </a:rPr>
              <a:t> de proyecto angular</a:t>
            </a:r>
            <a:endParaRPr lang="es-MX" sz="1800" b="1" dirty="0">
              <a:solidFill>
                <a:srgbClr val="2F75B5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Primero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un nuevo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llamado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-frontend. Durante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seleccionó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CSS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hoja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estilos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indicó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no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utilizaría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Server-Side Rendering,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ya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objetivo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trabajar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aplicación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web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básica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consumir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forma local.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3D20A0-B128-3A45-57CF-578D7E469E5B}"/>
              </a:ext>
            </a:extLst>
          </p:cNvPr>
          <p:cNvSpPr txBox="1"/>
          <p:nvPr/>
        </p:nvSpPr>
        <p:spPr>
          <a:xfrm>
            <a:off x="9796121" y="737968"/>
            <a:ext cx="7238206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B6BBEA9-2E4C-CD25-62BD-2B66F6050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116695"/>
            <a:ext cx="13487400" cy="669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91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499030" y="237507"/>
            <a:ext cx="12216969" cy="23719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7000"/>
              </a:lnSpc>
              <a:spcBef>
                <a:spcPts val="1000"/>
              </a:spcBef>
            </a:pPr>
            <a:r>
              <a:rPr lang="es-ES" sz="2400" dirty="0">
                <a:solidFill>
                  <a:schemeClr val="bg1"/>
                </a:solidFill>
              </a:rPr>
              <a:t>Paso 3: </a:t>
            </a:r>
            <a:r>
              <a:rPr lang="en-US" sz="18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Organización</a:t>
            </a:r>
            <a:r>
              <a:rPr lang="en-US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de la </a:t>
            </a:r>
            <a:r>
              <a:rPr lang="en-US" sz="18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estructura</a:t>
            </a:r>
            <a:r>
              <a:rPr lang="en-US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de </a:t>
            </a:r>
            <a:r>
              <a:rPr lang="en-US" sz="18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carpetas</a:t>
            </a:r>
            <a:r>
              <a:rPr lang="en-US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del Proyecto</a:t>
            </a:r>
          </a:p>
          <a:p>
            <a:pPr>
              <a:lnSpc>
                <a:spcPct val="107000"/>
              </a:lnSpc>
              <a:spcBef>
                <a:spcPts val="1000"/>
              </a:spcBef>
            </a:pPr>
            <a:endParaRPr lang="es-MX" sz="18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Gothic" panose="020B0609070205080204" pitchFamily="49" charset="-128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vez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ubicados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dentro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carpeta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organizó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estructura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interna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aplicación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antes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comenzar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generar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archivos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Dentro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/app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crearon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tres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carpetas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adicionales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mediante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comando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mkdir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fin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mantener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separado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según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models para las interfaces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services 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servicios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encargados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comunicación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backend, y components 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elementos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visuales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interfaz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C3D502-8AB6-5E4F-2B3D-08E6A794E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069" y="2609503"/>
            <a:ext cx="13465081" cy="681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493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6474604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4: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endParaRPr lang="es-ES" sz="2400" dirty="0">
              <a:solidFill>
                <a:schemeClr val="bg1"/>
              </a:solidFill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6950F1-2F8F-0E4C-5581-A37E836F31A0}"/>
              </a:ext>
            </a:extLst>
          </p:cNvPr>
          <p:cNvSpPr txBox="1"/>
          <p:nvPr/>
        </p:nvSpPr>
        <p:spPr>
          <a:xfrm>
            <a:off x="4197155" y="1632735"/>
            <a:ext cx="9144000" cy="959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Después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necesario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habilitar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ya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módulo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Angular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realice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peticiones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HTTP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hacia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backend. Sin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no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podría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comunicarse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endpoints REST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0FF839-4994-A29B-C615-9AEAB2B2D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296" y="2939860"/>
            <a:ext cx="13155407" cy="668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102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11125200" cy="2290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Paso 5: </a:t>
            </a:r>
            <a:r>
              <a:rPr lang="en-US" sz="24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Creación</a:t>
            </a: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del </a:t>
            </a:r>
            <a:r>
              <a:rPr lang="en-US" sz="24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modelo</a:t>
            </a: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datos</a:t>
            </a:r>
            <a:endParaRPr lang="es-MX" sz="18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Posteriormente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modelo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carpeta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models. Este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archivo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define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estructura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frontend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espera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recibir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enviar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backend. Al usar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interfaz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Angular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puede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trabajar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forma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más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ordenada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campos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edad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teléfono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correo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matrícula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carrera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1E80DD4-E67D-E33F-7839-4E31B5CF0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06616"/>
            <a:ext cx="11346582" cy="574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9106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11125200" cy="17240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6: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centralizar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comunicación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ayuda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mantener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código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más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organizado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ya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componentes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no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conectan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directamente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backend,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sino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métodos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definidos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D298D3C-17B0-B2E5-5097-C4BA591001E6}"/>
              </a:ext>
            </a:extLst>
          </p:cNvPr>
          <p:cNvSpPr txBox="1"/>
          <p:nvPr/>
        </p:nvSpPr>
        <p:spPr>
          <a:xfrm>
            <a:off x="2362200" y="7814217"/>
            <a:ext cx="11279616" cy="1256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tratarse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primera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vez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utilizaba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CLI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herramienta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solicitó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autorización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compartir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anónimos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bajo la Política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Privacidad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Google.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respondió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afirmativamente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solicitud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lo que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analíticas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quedó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habilitada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tanto 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nivel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global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local antes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continuar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generación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C27215B-4305-FCF8-1248-E475BA890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57" y="3427244"/>
            <a:ext cx="17812644" cy="368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968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1686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800" dirty="0">
                <a:solidFill>
                  <a:schemeClr val="bg1"/>
                </a:solidFill>
              </a:rPr>
              <a:t>Paso 7: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endParaRPr lang="es-ES" sz="2800" dirty="0">
              <a:solidFill>
                <a:schemeClr val="bg1"/>
              </a:solidFill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Después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necesario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habilitar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ya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módulo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Angular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realice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peticiones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HTTP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hacia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backend. Sin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no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podría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comunicarse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endpoints REST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79887F-6B16-D490-6B97-D9A951DBC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177029"/>
            <a:ext cx="13692438" cy="692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0041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20533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8: </a:t>
            </a:r>
            <a:r>
              <a:rPr lang="es-ES" sz="2400" dirty="0" err="1">
                <a:solidFill>
                  <a:schemeClr val="bg1"/>
                </a:solidFill>
              </a:rPr>
              <a:t>Creacion</a:t>
            </a:r>
            <a:r>
              <a:rPr lang="es-ES" sz="2400" dirty="0">
                <a:solidFill>
                  <a:schemeClr val="bg1"/>
                </a:solidFill>
              </a:rPr>
              <a:t> de modelos de datos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Posteriormente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modelo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carpeta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models. Este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archivo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define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estructura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frontend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espera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recibir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o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enviar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backend. Al usar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interfaz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Angular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puede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trabajar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forma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más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ordenada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campos del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edad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teléfono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correo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matrícula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carrera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EFD1DB-1F1D-FC2E-1C65-BB49AB1E2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797011"/>
            <a:ext cx="14478000" cy="728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8688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989803" y="611163"/>
            <a:ext cx="15697200" cy="31625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10: </a:t>
            </a:r>
            <a:r>
              <a:rPr lang="es-ES" sz="2400" dirty="0" err="1">
                <a:solidFill>
                  <a:schemeClr val="bg1"/>
                </a:solidFill>
              </a:rPr>
              <a:t>Creacion</a:t>
            </a:r>
            <a:r>
              <a:rPr lang="es-ES" sz="2400" dirty="0">
                <a:solidFill>
                  <a:schemeClr val="bg1"/>
                </a:solidFill>
              </a:rPr>
              <a:t> del servicio angular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centralizar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comunicación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ayuda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mantener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código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más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organizado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ya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componentes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no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conectan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directamente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backend,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sino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métodos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definidos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ng generate service services/</a:t>
            </a:r>
            <a:r>
              <a:rPr lang="en-US" sz="18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estudiante</a:t>
            </a:r>
            <a:endParaRPr lang="es-MX" sz="1800" dirty="0">
              <a:solidFill>
                <a:schemeClr val="bg1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tratarse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primera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vez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utilizaba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CLI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herramienta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solicitó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autorización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compartir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anónimos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bajo la Política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Privacidad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Google.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respondió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afirmativamente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solicitud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lo que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analíticas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quedó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habilitada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tanto 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nivel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global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local antes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continuar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generación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E7396E-E063-ED80-4EB8-9A1D4ADD2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208" y="3202121"/>
            <a:ext cx="7864066" cy="662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9897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11: </a:t>
            </a:r>
            <a:r>
              <a:rPr lang="es-ES" sz="2400" dirty="0" err="1">
                <a:solidFill>
                  <a:schemeClr val="bg1"/>
                </a:solidFill>
              </a:rPr>
              <a:t>Configuracion</a:t>
            </a:r>
            <a:r>
              <a:rPr lang="es-ES" sz="2400" dirty="0">
                <a:solidFill>
                  <a:schemeClr val="bg1"/>
                </a:solidFill>
              </a:rPr>
              <a:t> de rutas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Las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rutas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navegar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entre las vistas del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sistema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En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caso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ruta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lista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otra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formulario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registro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Además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agregó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redirección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inicial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que, al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abrir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muestre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directamente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lista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s-ES" sz="2400" dirty="0">
              <a:solidFill>
                <a:schemeClr val="bg1"/>
              </a:solidFill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A38D203-96CD-F558-0F2B-D0FBF09A8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84044"/>
            <a:ext cx="13697337" cy="690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1894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4307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12: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Ejecución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backend y frontend</a:t>
            </a:r>
            <a:endParaRPr lang="es-ES" sz="2400" dirty="0">
              <a:solidFill>
                <a:schemeClr val="bg1"/>
              </a:solidFill>
            </a:endParaRPr>
          </a:p>
          <a:p>
            <a:endParaRPr lang="es-ES" sz="2400" dirty="0"/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Para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comprobar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comunicación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entre ambos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primero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inició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desde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IntelliJ IDEA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utilizando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botón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ejecución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Después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abrió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terminal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carpeta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y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ejecutó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servidor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desarrollo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ng serve –open 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comando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inició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puerto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4200 y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abrió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navegador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automáticamente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Mientras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tanto,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Spring Boot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continuó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ejecutándose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puerto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8080,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permitiendo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frontend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enviara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solicitudes a la API.</a:t>
            </a: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es-MX" sz="1800" dirty="0">
              <a:solidFill>
                <a:schemeClr val="bg1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s-ES" sz="2400" dirty="0">
              <a:solidFill>
                <a:schemeClr val="bg1"/>
              </a:solidFill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478CD5-C98F-B3AD-7457-B7FE41F55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858" y="3644864"/>
            <a:ext cx="12645453" cy="643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9048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5697200" cy="4758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12: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Resultado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s-ES" sz="2400" dirty="0">
              <a:solidFill>
                <a:schemeClr val="bg1"/>
              </a:solidFill>
            </a:endParaRPr>
          </a:p>
          <a:p>
            <a:r>
              <a:rPr lang="es-ES" sz="2400" dirty="0">
                <a:solidFill>
                  <a:schemeClr val="bg1"/>
                </a:solidFill>
              </a:rPr>
              <a:t>Como resultado de la práctica, se logró ejecutar correctamente el sistema de control escolar de manera local mediante la dirección </a:t>
            </a:r>
            <a:r>
              <a:rPr lang="es-ES" sz="2400" b="1" dirty="0" err="1">
                <a:solidFill>
                  <a:schemeClr val="bg1"/>
                </a:solidFill>
              </a:rPr>
              <a:t>serviciosescolares.local</a:t>
            </a:r>
            <a:r>
              <a:rPr lang="es-ES" sz="2400" dirty="0">
                <a:solidFill>
                  <a:schemeClr val="bg1"/>
                </a:solidFill>
              </a:rPr>
              <a:t>. En la captura se observa que la aplicación carga correctamente en el navegador y muestra la lista de estudiantes registrados en una tabla organizada con sus datos principales, como ID, nombre completo, edad, teléfono, correo, matrícula, carrera y semestre. Además, se puede visualizar que el sistema cuenta con opciones funcionales como buscar estudiantes, refrescar la información, exportar los datos a Excel, agregar un nuevo estudiante, editar registros y eliminar información. Esto demuestra que el </a:t>
            </a:r>
            <a:r>
              <a:rPr lang="es-ES" sz="2400" dirty="0" err="1">
                <a:solidFill>
                  <a:schemeClr val="bg1"/>
                </a:solidFill>
              </a:rPr>
              <a:t>frontend</a:t>
            </a:r>
            <a:r>
              <a:rPr lang="es-ES" sz="2400" dirty="0">
                <a:solidFill>
                  <a:schemeClr val="bg1"/>
                </a:solidFill>
              </a:rPr>
              <a:t> se encuentra funcionando correctamente y que existe comunicación con el </a:t>
            </a:r>
            <a:r>
              <a:rPr lang="es-ES" sz="2400" dirty="0" err="1">
                <a:solidFill>
                  <a:schemeClr val="bg1"/>
                </a:solidFill>
              </a:rPr>
              <a:t>backend</a:t>
            </a:r>
            <a:r>
              <a:rPr lang="es-ES" sz="2400" dirty="0">
                <a:solidFill>
                  <a:schemeClr val="bg1"/>
                </a:solidFill>
              </a:rPr>
              <a:t> y la base de datos PostgreSQL, permitiendo consultar y administrar los registros desde la interfaz web. </a:t>
            </a:r>
            <a:endParaRPr lang="es-MX" sz="1800" dirty="0">
              <a:solidFill>
                <a:schemeClr val="bg1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s-ES" sz="2400" dirty="0">
              <a:solidFill>
                <a:schemeClr val="bg1"/>
              </a:solidFill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100D17-5ABF-AC21-277F-1B3C33B79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4640165"/>
            <a:ext cx="10531383" cy="517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02356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098521" name="Freeform 8"/>
          <p:cNvSpPr/>
          <p:nvPr/>
        </p:nvSpPr>
        <p:spPr bwMode="auto">
          <a:xfrm>
            <a:off x="421081" y="521971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 extrusionOk="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</p:sp>
      <p:sp>
        <p:nvSpPr>
          <p:cNvPr id="837217533" name="Freeform 9"/>
          <p:cNvSpPr/>
          <p:nvPr/>
        </p:nvSpPr>
        <p:spPr bwMode="auto">
          <a:xfrm flipH="1" flipV="1">
            <a:off x="12063996" y="5773361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 extrusionOk="0">
                <a:moveTo>
                  <a:pt x="580292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02923" y="0"/>
                </a:lnTo>
                <a:lnTo>
                  <a:pt x="5802923" y="411480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</p:sp>
      <p:sp>
        <p:nvSpPr>
          <p:cNvPr id="552871635" name="AutoShape 10"/>
          <p:cNvSpPr/>
          <p:nvPr/>
        </p:nvSpPr>
        <p:spPr bwMode="auto">
          <a:xfrm flipV="1">
            <a:off x="6528547" y="607695"/>
            <a:ext cx="10942241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365982969" name="AutoShape 11"/>
          <p:cNvSpPr/>
          <p:nvPr/>
        </p:nvSpPr>
        <p:spPr bwMode="auto">
          <a:xfrm flipH="1">
            <a:off x="752883" y="9745287"/>
            <a:ext cx="10942241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237816248" name="TextBox 12"/>
          <p:cNvSpPr txBox="1"/>
          <p:nvPr/>
        </p:nvSpPr>
        <p:spPr bwMode="auto">
          <a:xfrm>
            <a:off x="5825861" y="3479905"/>
            <a:ext cx="6636277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Anexo link de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pplxSerif"/>
              </a:rPr>
              <a:t>git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 con las actividades correspondientes</a:t>
            </a:r>
          </a:p>
          <a:p>
            <a:pPr algn="l"/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  <a:hlinkClick r:id="rId4"/>
              </a:rPr>
              <a:t>https://github.com/eddiCastS/ABD-unidad-5-.git</a:t>
            </a:r>
            <a:endParaRPr lang="es-ES" sz="2800" dirty="0">
              <a:solidFill>
                <a:schemeClr val="bg1"/>
              </a:solidFill>
              <a:latin typeface="pplxSerif"/>
            </a:endParaRPr>
          </a:p>
          <a:p>
            <a:pPr algn="l"/>
            <a:endParaRPr lang="es-ES" sz="2800" b="0" i="0" dirty="0">
              <a:solidFill>
                <a:schemeClr val="bg1"/>
              </a:solidFill>
              <a:effectLst/>
              <a:latin typeface="pplxSerif"/>
            </a:endParaRPr>
          </a:p>
          <a:p>
            <a:pPr algn="l"/>
            <a:endParaRPr lang="es-ES" sz="2800" b="0" i="0" dirty="0">
              <a:solidFill>
                <a:schemeClr val="bg1"/>
              </a:solidFill>
              <a:effectLst/>
              <a:latin typeface="pplxSerif"/>
            </a:endParaRPr>
          </a:p>
        </p:txBody>
      </p:sp>
      <p:sp>
        <p:nvSpPr>
          <p:cNvPr id="702311257" name="TextBox 13"/>
          <p:cNvSpPr txBox="1"/>
          <p:nvPr/>
        </p:nvSpPr>
        <p:spPr bwMode="auto">
          <a:xfrm>
            <a:off x="4185995" y="1759034"/>
            <a:ext cx="9916010" cy="106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58"/>
              </a:lnSpc>
              <a:spcBef>
                <a:spcPts val="0"/>
              </a:spcBef>
              <a:defRPr/>
            </a:pPr>
            <a:r>
              <a:rPr lang="en-US" sz="6250" u="none" strike="noStrike" spc="181" dirty="0">
                <a:solidFill>
                  <a:srgbClr val="FFFFFF"/>
                </a:solidFill>
                <a:latin typeface="Etna Sans Serif"/>
                <a:ea typeface="Etna Sans Serif"/>
                <a:cs typeface="Etna Sans Serif"/>
              </a:rPr>
              <a:t>Link de git hub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6631050" name="object 2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519869159" name="object 3"/>
          <p:cNvPicPr/>
          <p:nvPr/>
        </p:nvPicPr>
        <p:blipFill rotWithShape="1">
          <a:blip r:embed="rId4"/>
          <a:stretch/>
        </p:blipFill>
        <p:spPr bwMode="auto">
          <a:xfrm>
            <a:off x="421081" y="521971"/>
            <a:ext cx="5802922" cy="4114800"/>
          </a:xfrm>
          <a:prstGeom prst="rect">
            <a:avLst/>
          </a:prstGeom>
        </p:spPr>
      </p:pic>
      <p:pic>
        <p:nvPicPr>
          <p:cNvPr id="766756948" name="object 4"/>
          <p:cNvPicPr/>
          <p:nvPr/>
        </p:nvPicPr>
        <p:blipFill rotWithShape="1">
          <a:blip r:embed="rId5"/>
          <a:stretch/>
        </p:blipFill>
        <p:spPr bwMode="auto">
          <a:xfrm>
            <a:off x="12063945" y="5773356"/>
            <a:ext cx="5802922" cy="4114800"/>
          </a:xfrm>
          <a:prstGeom prst="rect">
            <a:avLst/>
          </a:prstGeom>
        </p:spPr>
      </p:pic>
      <p:grpSp>
        <p:nvGrpSpPr>
          <p:cNvPr id="195035859" name="object 5"/>
          <p:cNvGrpSpPr/>
          <p:nvPr/>
        </p:nvGrpSpPr>
        <p:grpSpPr bwMode="auto">
          <a:xfrm>
            <a:off x="6459493" y="531199"/>
            <a:ext cx="11011535" cy="153035"/>
            <a:chOff x="6459493" y="531199"/>
            <a:chExt cx="11011535" cy="153035"/>
          </a:xfrm>
        </p:grpSpPr>
        <p:sp>
          <p:nvSpPr>
            <p:cNvPr id="6" name="object 6"/>
            <p:cNvSpPr/>
            <p:nvPr/>
          </p:nvSpPr>
          <p:spPr bwMode="auto">
            <a:xfrm>
              <a:off x="6528549" y="607694"/>
              <a:ext cx="10942320" cy="0"/>
            </a:xfrm>
            <a:custGeom>
              <a:avLst/>
              <a:gdLst/>
              <a:ahLst/>
              <a:cxnLst/>
              <a:rect l="l" t="t" r="r" b="b"/>
              <a:pathLst>
                <a:path w="10942319" extrusionOk="0">
                  <a:moveTo>
                    <a:pt x="0" y="0"/>
                  </a:moveTo>
                  <a:lnTo>
                    <a:pt x="10942243" y="0"/>
                  </a:lnTo>
                </a:path>
              </a:pathLst>
            </a:custGeom>
            <a:grpFill/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7" name="object 7"/>
            <p:cNvPicPr/>
            <p:nvPr/>
          </p:nvPicPr>
          <p:blipFill rotWithShape="1">
            <a:blip r:embed="rId6"/>
            <a:stretch/>
          </p:blipFill>
          <p:spPr bwMode="auto">
            <a:xfrm>
              <a:off x="6459493" y="531199"/>
              <a:ext cx="138111" cy="152990"/>
            </a:xfrm>
            <a:prstGeom prst="rect">
              <a:avLst/>
            </a:prstGeom>
          </p:spPr>
        </p:pic>
      </p:grpSp>
      <p:grpSp>
        <p:nvGrpSpPr>
          <p:cNvPr id="560480666" name="object 8"/>
          <p:cNvGrpSpPr/>
          <p:nvPr/>
        </p:nvGrpSpPr>
        <p:grpSpPr bwMode="auto">
          <a:xfrm>
            <a:off x="752881" y="9668786"/>
            <a:ext cx="11011535" cy="153035"/>
            <a:chOff x="752881" y="9668786"/>
            <a:chExt cx="11011535" cy="153035"/>
          </a:xfrm>
        </p:grpSpPr>
        <p:sp>
          <p:nvSpPr>
            <p:cNvPr id="9" name="object 9"/>
            <p:cNvSpPr/>
            <p:nvPr/>
          </p:nvSpPr>
          <p:spPr bwMode="auto">
            <a:xfrm>
              <a:off x="752881" y="9745281"/>
              <a:ext cx="10942320" cy="0"/>
            </a:xfrm>
            <a:custGeom>
              <a:avLst/>
              <a:gdLst/>
              <a:ahLst/>
              <a:cxnLst/>
              <a:rect l="l" t="t" r="r" b="b"/>
              <a:pathLst>
                <a:path w="10942320" extrusionOk="0">
                  <a:moveTo>
                    <a:pt x="10942243" y="0"/>
                  </a:moveTo>
                  <a:lnTo>
                    <a:pt x="0" y="0"/>
                  </a:lnTo>
                </a:path>
              </a:pathLst>
            </a:custGeom>
            <a:grpFill/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0" name="object 10"/>
            <p:cNvPicPr/>
            <p:nvPr/>
          </p:nvPicPr>
          <p:blipFill rotWithShape="1">
            <a:blip r:embed="rId7"/>
            <a:stretch/>
          </p:blipFill>
          <p:spPr bwMode="auto">
            <a:xfrm>
              <a:off x="11626069" y="9668786"/>
              <a:ext cx="138111" cy="152990"/>
            </a:xfrm>
            <a:prstGeom prst="rect">
              <a:avLst/>
            </a:prstGeom>
          </p:spPr>
        </p:pic>
      </p:grpSp>
      <p:sp>
        <p:nvSpPr>
          <p:cNvPr id="1527036298" name="object 11"/>
          <p:cNvSpPr txBox="1"/>
          <p:nvPr/>
        </p:nvSpPr>
        <p:spPr bwMode="auto">
          <a:xfrm>
            <a:off x="5830386" y="3459682"/>
            <a:ext cx="6632344" cy="5988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Podemos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concluir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práctica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importante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porque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permitió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integrar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un frontend Angular con un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desarrollado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Spring Boot. 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través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actividad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comprendió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cómo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aplicación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web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puede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consumir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REST para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consultar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registrar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eliminar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información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almacenada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base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PostgreSQL.</a:t>
            </a:r>
            <a:endParaRPr lang="es-MX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Asimismo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reforzó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modelos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componentes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rutas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Angular.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Cada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uno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elementos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cumplió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función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específica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lograr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interfaz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comunicara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correctamente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presentara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usuario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manera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organizada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21808712" name="object 12"/>
          <p:cNvSpPr txBox="1">
            <a:spLocks noGrp="1"/>
          </p:cNvSpPr>
          <p:nvPr>
            <p:ph type="title"/>
          </p:nvPr>
        </p:nvSpPr>
        <p:spPr bwMode="auto">
          <a:xfrm>
            <a:off x="7053109" y="1889315"/>
            <a:ext cx="415925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250" spc="150"/>
              <a:t>Conclusion</a:t>
            </a:r>
            <a:endParaRPr sz="62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</TotalTime>
  <Words>1405</Words>
  <Application>Microsoft Office PowerPoint</Application>
  <PresentationFormat>Personalizado</PresentationFormat>
  <Paragraphs>118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Consolas</vt:lpstr>
      <vt:lpstr>Etna Sans Serif</vt:lpstr>
      <vt:lpstr>pplxSerif</vt:lpstr>
      <vt:lpstr>Office Theme</vt:lpstr>
      <vt:lpstr>Presentación de PowerPoint</vt:lpstr>
      <vt:lpstr>INTRODUCCION</vt:lpstr>
      <vt:lpstr>JUSTIFICACION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Presentación de PowerPoint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Eddi Castillo</dc:creator>
  <cp:lastModifiedBy>eddi castillo</cp:lastModifiedBy>
  <cp:revision>12</cp:revision>
  <dcterms:created xsi:type="dcterms:W3CDTF">2026-05-06T04:52:09Z</dcterms:created>
  <dcterms:modified xsi:type="dcterms:W3CDTF">2026-06-15T04:41:30Z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LastSaved">
    <vt:filetime>2026-05-06T00:00:00Z</vt:filetime>
  </property>
  <property fmtid="{D5CDD505-2E9C-101B-9397-08002B2CF9AE}" pid="4" name="Producer">
    <vt:lpwstr>3-Heights(TM) PDF Security Shell 4.8.25.2 (http://www.pdf-tools.com)</vt:lpwstr>
  </property>
</Properties>
</file>